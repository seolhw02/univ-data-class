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58" y="-4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yunwoo seol" userId="b47d3466d03d7e70" providerId="LiveId" clId="{3A075EA8-CA13-4D79-89D8-FEE4000A13BC}"/>
    <pc:docChg chg="modSld">
      <pc:chgData name="hyunwoo seol" userId="b47d3466d03d7e70" providerId="LiveId" clId="{3A075EA8-CA13-4D79-89D8-FEE4000A13BC}" dt="2026-06-10T06:16:14.519" v="10" actId="20577"/>
      <pc:docMkLst>
        <pc:docMk/>
      </pc:docMkLst>
      <pc:sldChg chg="modSp mod">
        <pc:chgData name="hyunwoo seol" userId="b47d3466d03d7e70" providerId="LiveId" clId="{3A075EA8-CA13-4D79-89D8-FEE4000A13BC}" dt="2026-06-10T06:16:14.519" v="10" actId="20577"/>
        <pc:sldMkLst>
          <pc:docMk/>
          <pc:sldMk cId="0" sldId="256"/>
        </pc:sldMkLst>
        <pc:spChg chg="mod">
          <ac:chgData name="hyunwoo seol" userId="b47d3466d03d7e70" providerId="LiveId" clId="{3A075EA8-CA13-4D79-89D8-FEE4000A13BC}" dt="2026-06-10T06:16:14.519" v="10" actId="20577"/>
          <ac:spMkLst>
            <pc:docMk/>
            <pc:sldMk cId="0" sldId="25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088552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87693" y="79448"/>
            <a:ext cx="3657600" cy="3657600"/>
          </a:xfrm>
          <a:prstGeom prst="ellipse">
            <a:avLst/>
          </a:prstGeom>
          <a:solidFill>
            <a:srgbClr val="1A5276">
              <a:alpha val="30000"/>
            </a:srgbClr>
          </a:solidFill>
          <a:ln w="12700">
            <a:solidFill>
              <a:srgbClr val="1A5276">
                <a:alpha val="30000"/>
              </a:srgbClr>
            </a:solidFill>
            <a:prstDash val="solid"/>
          </a:ln>
        </p:spPr>
        <p:txBody>
          <a:bodyPr/>
          <a:lstStyle/>
          <a:p>
            <a:endParaRPr lang="ko-KR" altLang="en-US"/>
          </a:p>
        </p:txBody>
      </p:sp>
      <p:sp>
        <p:nvSpPr>
          <p:cNvPr id="3" name="Shape 1"/>
          <p:cNvSpPr/>
          <p:nvPr/>
        </p:nvSpPr>
        <p:spPr>
          <a:xfrm>
            <a:off x="6858000" y="2926080"/>
            <a:ext cx="3200400" cy="3200400"/>
          </a:xfrm>
          <a:prstGeom prst="ellipse">
            <a:avLst/>
          </a:prstGeom>
          <a:solidFill>
            <a:srgbClr val="148F77">
              <a:alpha val="20000"/>
            </a:srgbClr>
          </a:solidFill>
          <a:ln w="12700">
            <a:solidFill>
              <a:srgbClr val="148F77">
                <a:alpha val="20000"/>
              </a:srgbClr>
            </a:solidFill>
            <a:prstDash val="solid"/>
          </a:ln>
        </p:spPr>
        <p:txBody>
          <a:bodyPr/>
          <a:lstStyle/>
          <a:p>
            <a:endParaRPr lang="ko-KR" altLang="en-US"/>
          </a:p>
        </p:txBody>
      </p:sp>
      <p:sp>
        <p:nvSpPr>
          <p:cNvPr id="4" name="Text 2"/>
          <p:cNvSpPr/>
          <p:nvPr/>
        </p:nvSpPr>
        <p:spPr>
          <a:xfrm>
            <a:off x="640080" y="822960"/>
            <a:ext cx="7863840" cy="365760"/>
          </a:xfrm>
          <a:prstGeom prst="rect">
            <a:avLst/>
          </a:prstGeom>
          <a:noFill/>
          <a:ln/>
        </p:spPr>
        <p:txBody>
          <a:bodyPr wrap="square" lIns="0" tIns="0" rIns="0" bIns="0" rtlCol="0" anchor="ctr"/>
          <a:lstStyle/>
          <a:p>
            <a:pPr marL="0" indent="0" algn="l">
              <a:buNone/>
            </a:pPr>
            <a:r>
              <a:rPr lang="en-US" sz="1300" dirty="0">
                <a:solidFill>
                  <a:srgbClr val="F39C12"/>
                </a:solidFill>
                <a:latin typeface="Arial" pitchFamily="34" charset="0"/>
                <a:ea typeface="Arial" pitchFamily="34" charset="-122"/>
                <a:cs typeface="Arial" pitchFamily="34" charset="-120"/>
              </a:rPr>
              <a:t>머신러닝 기반 임상 분석 프로젝트</a:t>
            </a:r>
            <a:endParaRPr lang="en-US" sz="1300" dirty="0"/>
          </a:p>
        </p:txBody>
      </p:sp>
      <p:sp>
        <p:nvSpPr>
          <p:cNvPr id="5" name="Text 3"/>
          <p:cNvSpPr/>
          <p:nvPr/>
        </p:nvSpPr>
        <p:spPr>
          <a:xfrm>
            <a:off x="640080" y="1280160"/>
            <a:ext cx="7863840" cy="146304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임상 데이터를 활용한
심부전 환자 생존 여부 예측</a:t>
            </a:r>
            <a:endParaRPr lang="en-US" sz="3600" dirty="0"/>
          </a:p>
        </p:txBody>
      </p:sp>
      <p:sp>
        <p:nvSpPr>
          <p:cNvPr id="6" name="Text 4"/>
          <p:cNvSpPr/>
          <p:nvPr/>
        </p:nvSpPr>
        <p:spPr>
          <a:xfrm>
            <a:off x="640080" y="2834640"/>
            <a:ext cx="7863840" cy="411480"/>
          </a:xfrm>
          <a:prstGeom prst="rect">
            <a:avLst/>
          </a:prstGeom>
          <a:noFill/>
          <a:ln/>
        </p:spPr>
        <p:txBody>
          <a:bodyPr wrap="square" lIns="0" tIns="0" rIns="0" bIns="0" rtlCol="0" anchor="ctr"/>
          <a:lstStyle/>
          <a:p>
            <a:pPr marL="0" indent="0" algn="l">
              <a:buNone/>
            </a:pPr>
            <a:r>
              <a:rPr lang="en-US" sz="1400" dirty="0">
                <a:solidFill>
                  <a:srgbClr val="D6EAF8"/>
                </a:solidFill>
                <a:latin typeface="Arial" pitchFamily="34" charset="0"/>
                <a:ea typeface="Arial" pitchFamily="34" charset="-122"/>
                <a:cs typeface="Arial" pitchFamily="34" charset="-120"/>
              </a:rPr>
              <a:t>핵심 위험 요인 분석 및 머신러닝 모델을 통한 고위험군 </a:t>
            </a:r>
            <a:r>
              <a:rPr lang="en-US" sz="1400" dirty="0" err="1">
                <a:solidFill>
                  <a:srgbClr val="D6EAF8"/>
                </a:solidFill>
                <a:latin typeface="Arial" pitchFamily="34" charset="0"/>
                <a:ea typeface="Arial" pitchFamily="34" charset="-122"/>
                <a:cs typeface="Arial" pitchFamily="34" charset="-120"/>
              </a:rPr>
              <a:t>환자</a:t>
            </a:r>
            <a:r>
              <a:rPr lang="en-US" sz="1400" dirty="0">
                <a:solidFill>
                  <a:srgbClr val="D6EAF8"/>
                </a:solidFill>
                <a:latin typeface="Arial" pitchFamily="34" charset="0"/>
                <a:ea typeface="Arial" pitchFamily="34" charset="-122"/>
                <a:cs typeface="Arial" pitchFamily="34" charset="-120"/>
              </a:rPr>
              <a:t> </a:t>
            </a:r>
            <a:r>
              <a:rPr lang="ko-KR" altLang="en-US" sz="1400" dirty="0">
                <a:solidFill>
                  <a:srgbClr val="D6EAF8"/>
                </a:solidFill>
                <a:latin typeface="Arial" pitchFamily="34" charset="0"/>
                <a:ea typeface="Arial" pitchFamily="34" charset="-122"/>
                <a:cs typeface="Arial" pitchFamily="34" charset="-120"/>
              </a:rPr>
              <a:t>분류</a:t>
            </a:r>
            <a:endParaRPr lang="en-US" sz="1400" dirty="0"/>
          </a:p>
        </p:txBody>
      </p:sp>
      <p:sp>
        <p:nvSpPr>
          <p:cNvPr id="7" name="Shape 5"/>
          <p:cNvSpPr/>
          <p:nvPr/>
        </p:nvSpPr>
        <p:spPr>
          <a:xfrm>
            <a:off x="640080" y="3337560"/>
            <a:ext cx="5108648" cy="0"/>
          </a:xfrm>
          <a:prstGeom prst="line">
            <a:avLst/>
          </a:prstGeom>
          <a:noFill/>
          <a:ln w="25400">
            <a:solidFill>
              <a:srgbClr val="148F77"/>
            </a:solidFill>
            <a:prstDash val="solid"/>
          </a:ln>
        </p:spPr>
        <p:txBody>
          <a:bodyPr/>
          <a:lstStyle/>
          <a:p>
            <a:endParaRPr lang="ko-KR" altLang="en-US"/>
          </a:p>
        </p:txBody>
      </p:sp>
      <p:sp>
        <p:nvSpPr>
          <p:cNvPr id="8" name="Text 6"/>
          <p:cNvSpPr/>
          <p:nvPr/>
        </p:nvSpPr>
        <p:spPr>
          <a:xfrm>
            <a:off x="632585" y="3657600"/>
            <a:ext cx="7863840" cy="320040"/>
          </a:xfrm>
          <a:prstGeom prst="rect">
            <a:avLst/>
          </a:prstGeom>
          <a:noFill/>
          <a:ln/>
        </p:spPr>
        <p:txBody>
          <a:bodyPr wrap="square" lIns="0" tIns="0" rIns="0" bIns="0" rtlCol="0" anchor="ctr"/>
          <a:lstStyle/>
          <a:p>
            <a:pPr marL="0" indent="0" algn="l">
              <a:buNone/>
            </a:pPr>
            <a:endParaRPr lang="en-US" altLang="ko-KR" sz="1100" dirty="0">
              <a:solidFill>
                <a:srgbClr val="85929E"/>
              </a:solidFill>
              <a:latin typeface="Arial" pitchFamily="34" charset="0"/>
              <a:ea typeface="Arial" pitchFamily="34" charset="-122"/>
              <a:cs typeface="Arial" pitchFamily="34" charset="-120"/>
            </a:endParaRPr>
          </a:p>
          <a:p>
            <a:pPr marL="0" indent="0" algn="l">
              <a:buNone/>
            </a:pPr>
            <a:endParaRPr lang="en-US" altLang="ko-KR" sz="1100" dirty="0">
              <a:solidFill>
                <a:srgbClr val="85929E"/>
              </a:solidFill>
              <a:latin typeface="Arial" pitchFamily="34" charset="0"/>
              <a:ea typeface="Arial" pitchFamily="34" charset="-122"/>
              <a:cs typeface="Arial" pitchFamily="34" charset="-120"/>
            </a:endParaRPr>
          </a:p>
          <a:p>
            <a:pPr marL="0" indent="0" algn="l">
              <a:buNone/>
            </a:pPr>
            <a:r>
              <a:rPr lang="ko-KR" altLang="en-US" sz="1100" dirty="0">
                <a:solidFill>
                  <a:srgbClr val="85929E"/>
                </a:solidFill>
                <a:latin typeface="Arial" pitchFamily="34" charset="0"/>
                <a:ea typeface="Arial" pitchFamily="34" charset="-122"/>
                <a:cs typeface="Arial" pitchFamily="34" charset="-120"/>
              </a:rPr>
              <a:t>학번</a:t>
            </a:r>
            <a:r>
              <a:rPr lang="en-US" altLang="ko-KR" sz="1100" dirty="0">
                <a:solidFill>
                  <a:srgbClr val="85929E"/>
                </a:solidFill>
                <a:latin typeface="Arial" pitchFamily="34" charset="0"/>
                <a:ea typeface="Arial" pitchFamily="34" charset="-122"/>
                <a:cs typeface="Arial" pitchFamily="34" charset="-120"/>
              </a:rPr>
              <a:t>: 20212255</a:t>
            </a:r>
          </a:p>
          <a:p>
            <a:pPr marL="0" indent="0" algn="l">
              <a:buNone/>
            </a:pPr>
            <a:r>
              <a:rPr lang="ko-KR" altLang="en-US" sz="1100" dirty="0">
                <a:solidFill>
                  <a:srgbClr val="85929E"/>
                </a:solidFill>
                <a:latin typeface="Arial" pitchFamily="34" charset="0"/>
                <a:ea typeface="Arial" pitchFamily="34" charset="-122"/>
                <a:cs typeface="Arial" pitchFamily="34" charset="-120"/>
              </a:rPr>
              <a:t>학부</a:t>
            </a:r>
            <a:r>
              <a:rPr lang="en-US" altLang="ko-KR" sz="1100" dirty="0">
                <a:solidFill>
                  <a:srgbClr val="85929E"/>
                </a:solidFill>
                <a:latin typeface="Arial" pitchFamily="34" charset="0"/>
                <a:ea typeface="Arial" pitchFamily="34" charset="-122"/>
                <a:cs typeface="Arial" pitchFamily="34" charset="-120"/>
              </a:rPr>
              <a:t>: </a:t>
            </a:r>
            <a:r>
              <a:rPr lang="ko-KR" altLang="en-US" sz="1100" dirty="0">
                <a:solidFill>
                  <a:srgbClr val="85929E"/>
                </a:solidFill>
                <a:latin typeface="Arial" pitchFamily="34" charset="0"/>
                <a:ea typeface="Arial" pitchFamily="34" charset="-122"/>
                <a:cs typeface="Arial" pitchFamily="34" charset="-120"/>
              </a:rPr>
              <a:t>첨단</a:t>
            </a:r>
            <a:r>
              <a:rPr lang="en-US" altLang="ko-KR" sz="1100" dirty="0">
                <a:solidFill>
                  <a:srgbClr val="85929E"/>
                </a:solidFill>
                <a:latin typeface="Arial" pitchFamily="34" charset="0"/>
                <a:ea typeface="Arial" pitchFamily="34" charset="-122"/>
                <a:cs typeface="Arial" pitchFamily="34" charset="-120"/>
              </a:rPr>
              <a:t>IT</a:t>
            </a:r>
            <a:r>
              <a:rPr lang="ko-KR" altLang="en-US" sz="1100" dirty="0">
                <a:solidFill>
                  <a:srgbClr val="85929E"/>
                </a:solidFill>
                <a:latin typeface="Arial" pitchFamily="34" charset="0"/>
                <a:ea typeface="Arial" pitchFamily="34" charset="-122"/>
                <a:cs typeface="Arial" pitchFamily="34" charset="-120"/>
              </a:rPr>
              <a:t>학부 </a:t>
            </a:r>
            <a:r>
              <a:rPr lang="en-US" altLang="ko-KR" sz="1100" dirty="0">
                <a:solidFill>
                  <a:srgbClr val="85929E"/>
                </a:solidFill>
                <a:latin typeface="Arial" pitchFamily="34" charset="0"/>
                <a:ea typeface="Arial" pitchFamily="34" charset="-122"/>
                <a:cs typeface="Arial" pitchFamily="34" charset="-120"/>
              </a:rPr>
              <a:t>/ IOT</a:t>
            </a:r>
            <a:r>
              <a:rPr lang="ko-KR" altLang="en-US" sz="1100" dirty="0">
                <a:solidFill>
                  <a:srgbClr val="85929E"/>
                </a:solidFill>
                <a:latin typeface="Arial" pitchFamily="34" charset="0"/>
                <a:ea typeface="Arial" pitchFamily="34" charset="-122"/>
                <a:cs typeface="Arial" pitchFamily="34" charset="-120"/>
              </a:rPr>
              <a:t>전공</a:t>
            </a:r>
            <a:endParaRPr lang="en-US" altLang="ko-KR" sz="1100" dirty="0">
              <a:solidFill>
                <a:srgbClr val="85929E"/>
              </a:solidFill>
              <a:latin typeface="Arial" pitchFamily="34" charset="0"/>
              <a:ea typeface="Arial" pitchFamily="34" charset="-122"/>
              <a:cs typeface="Arial" pitchFamily="34" charset="-120"/>
            </a:endParaRPr>
          </a:p>
          <a:p>
            <a:pPr marL="0" indent="0" algn="l">
              <a:buNone/>
            </a:pPr>
            <a:r>
              <a:rPr lang="ko-KR" altLang="en-US" sz="1100" dirty="0">
                <a:solidFill>
                  <a:srgbClr val="85929E"/>
                </a:solidFill>
                <a:latin typeface="Arial" pitchFamily="34" charset="0"/>
                <a:ea typeface="Arial" pitchFamily="34" charset="-122"/>
                <a:cs typeface="Arial" pitchFamily="34" charset="-120"/>
              </a:rPr>
              <a:t>이름</a:t>
            </a:r>
            <a:r>
              <a:rPr lang="en-US" altLang="ko-KR" sz="1100" dirty="0">
                <a:solidFill>
                  <a:srgbClr val="85929E"/>
                </a:solidFill>
                <a:latin typeface="Arial" pitchFamily="34" charset="0"/>
                <a:ea typeface="Arial" pitchFamily="34" charset="-122"/>
                <a:cs typeface="Arial" pitchFamily="34" charset="-120"/>
              </a:rPr>
              <a:t>: </a:t>
            </a:r>
            <a:r>
              <a:rPr lang="ko-KR" altLang="en-US" sz="1100" dirty="0">
                <a:solidFill>
                  <a:srgbClr val="85929E"/>
                </a:solidFill>
                <a:latin typeface="Arial" pitchFamily="34" charset="0"/>
                <a:ea typeface="Arial" pitchFamily="34" charset="-122"/>
                <a:cs typeface="Arial" pitchFamily="34" charset="-120"/>
              </a:rPr>
              <a:t>설현우</a:t>
            </a:r>
            <a:endParaRPr lang="en-US" altLang="ko-KR" sz="1100" dirty="0">
              <a:solidFill>
                <a:srgbClr val="85929E"/>
              </a:solidFill>
              <a:latin typeface="Arial" pitchFamily="34" charset="0"/>
              <a:ea typeface="Arial" pitchFamily="34" charset="-122"/>
              <a:cs typeface="Arial" pitchFamily="34" charset="-120"/>
            </a:endParaRPr>
          </a:p>
          <a:p>
            <a:pPr marL="0" indent="0" algn="l">
              <a:buNone/>
            </a:pPr>
            <a:r>
              <a:rPr lang="ko-KR" altLang="en-US" sz="1100" dirty="0">
                <a:solidFill>
                  <a:srgbClr val="85929E"/>
                </a:solidFill>
                <a:latin typeface="Arial" pitchFamily="34" charset="0"/>
                <a:ea typeface="Arial" pitchFamily="34" charset="-122"/>
                <a:cs typeface="Arial" pitchFamily="34" charset="-120"/>
              </a:rPr>
              <a:t>날짜</a:t>
            </a:r>
            <a:r>
              <a:rPr lang="en-US" altLang="ko-KR" sz="1100" dirty="0">
                <a:solidFill>
                  <a:srgbClr val="85929E"/>
                </a:solidFill>
                <a:latin typeface="Arial" pitchFamily="34" charset="0"/>
                <a:ea typeface="Arial" pitchFamily="34" charset="-122"/>
                <a:cs typeface="Arial" pitchFamily="34" charset="-120"/>
              </a:rPr>
              <a:t>: </a:t>
            </a:r>
            <a:r>
              <a:rPr lang="en-US" sz="1100" dirty="0">
                <a:solidFill>
                  <a:srgbClr val="85929E"/>
                </a:solidFill>
                <a:latin typeface="Arial" pitchFamily="34" charset="0"/>
                <a:ea typeface="Arial" pitchFamily="34" charset="-122"/>
                <a:cs typeface="Arial" pitchFamily="34" charset="-120"/>
              </a:rPr>
              <a:t>2026.06.15</a:t>
            </a:r>
          </a:p>
          <a:p>
            <a:pPr marL="0" indent="0" algn="l">
              <a:buNone/>
            </a:pPr>
            <a:endParaRPr lang="en-US" sz="1100" dirty="0">
              <a:solidFill>
                <a:srgbClr val="85929E"/>
              </a:solidFill>
              <a:latin typeface="Arial" pitchFamily="34" charset="0"/>
              <a:ea typeface="Arial" pitchFamily="34" charset="-122"/>
              <a:cs typeface="Arial" pitchFamily="34" charset="-120"/>
            </a:endParaRPr>
          </a:p>
          <a:p>
            <a:pPr marL="0" indent="0" algn="l">
              <a:buNone/>
            </a:pPr>
            <a:r>
              <a:rPr lang="en-US" sz="1100" dirty="0" err="1">
                <a:solidFill>
                  <a:srgbClr val="85929E"/>
                </a:solidFill>
                <a:latin typeface="Arial" pitchFamily="34" charset="0"/>
                <a:ea typeface="Arial" pitchFamily="34" charset="-122"/>
                <a:cs typeface="Arial" pitchFamily="34" charset="-120"/>
              </a:rPr>
              <a:t>데이터</a:t>
            </a:r>
            <a:r>
              <a:rPr lang="en-US" sz="1100" dirty="0">
                <a:solidFill>
                  <a:srgbClr val="85929E"/>
                </a:solidFill>
                <a:latin typeface="Arial" pitchFamily="34" charset="0"/>
                <a:ea typeface="Arial" pitchFamily="34" charset="-122"/>
                <a:cs typeface="Arial" pitchFamily="34" charset="-120"/>
              </a:rPr>
              <a:t>: Kaggle Heart Failure Clinical Records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5"/>
          </a:solidFill>
          <a:ln w="12700">
            <a:solidFill>
              <a:srgbClr val="0D2B55"/>
            </a:solidFill>
            <a:prstDash val="solid"/>
          </a:ln>
        </p:spPr>
        <p:txBody>
          <a:bodyPr/>
          <a:lstStyle/>
          <a:p>
            <a:endParaRPr lang="ko-KR" alt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프로젝트 개요</a:t>
            </a:r>
            <a:endParaRPr lang="en-US" sz="2600" dirty="0"/>
          </a:p>
        </p:txBody>
      </p:sp>
      <p:sp>
        <p:nvSpPr>
          <p:cNvPr id="4" name="Text 2"/>
          <p:cNvSpPr/>
          <p:nvPr/>
        </p:nvSpPr>
        <p:spPr>
          <a:xfrm>
            <a:off x="8046720" y="0"/>
            <a:ext cx="640080" cy="777240"/>
          </a:xfrm>
          <a:prstGeom prst="rect">
            <a:avLst/>
          </a:prstGeom>
          <a:noFill/>
          <a:ln/>
        </p:spPr>
        <p:txBody>
          <a:bodyPr wrap="square" lIns="0" tIns="0" rIns="0" bIns="0" rtlCol="0" anchor="ctr"/>
          <a:lstStyle/>
          <a:p>
            <a:pPr marL="0" indent="0" algn="r">
              <a:buNone/>
            </a:pPr>
            <a:r>
              <a:rPr lang="en-US" sz="2000" b="1" dirty="0">
                <a:solidFill>
                  <a:srgbClr val="F39C12"/>
                </a:solidFill>
                <a:latin typeface="Arial" pitchFamily="34" charset="0"/>
                <a:ea typeface="Arial" pitchFamily="34" charset="-122"/>
                <a:cs typeface="Arial" pitchFamily="34" charset="-120"/>
              </a:rPr>
              <a:t>02</a:t>
            </a:r>
            <a:endParaRPr lang="en-US" sz="2000" dirty="0"/>
          </a:p>
        </p:txBody>
      </p:sp>
      <p:sp>
        <p:nvSpPr>
          <p:cNvPr id="5" name="Shape 3"/>
          <p:cNvSpPr/>
          <p:nvPr/>
        </p:nvSpPr>
        <p:spPr>
          <a:xfrm>
            <a:off x="320040" y="960120"/>
            <a:ext cx="2743200" cy="3749040"/>
          </a:xfrm>
          <a:prstGeom prst="roundRect">
            <a:avLst>
              <a:gd name="adj" fmla="val 4000"/>
            </a:avLst>
          </a:prstGeom>
          <a:solidFill>
            <a:srgbClr val="FFFFFF"/>
          </a:solidFill>
          <a:ln w="12700">
            <a:solidFill>
              <a:srgbClr val="D5D8DC"/>
            </a:solidFill>
            <a:prstDash val="solid"/>
          </a:ln>
          <a:effectLst>
            <a:outerShdw blurRad="101600" dist="38100" dir="2700000" algn="bl" rotWithShape="0">
              <a:srgbClr val="000000">
                <a:alpha val="10000"/>
              </a:srgbClr>
            </a:outerShdw>
          </a:effectLst>
        </p:spPr>
        <p:txBody>
          <a:bodyPr/>
          <a:lstStyle/>
          <a:p>
            <a:endParaRPr lang="ko-KR" altLang="en-US"/>
          </a:p>
        </p:txBody>
      </p:sp>
      <p:sp>
        <p:nvSpPr>
          <p:cNvPr id="6" name="Shape 4"/>
          <p:cNvSpPr/>
          <p:nvPr/>
        </p:nvSpPr>
        <p:spPr>
          <a:xfrm>
            <a:off x="320040" y="960120"/>
            <a:ext cx="2743200" cy="502920"/>
          </a:xfrm>
          <a:prstGeom prst="roundRect">
            <a:avLst>
              <a:gd name="adj" fmla="val 21818"/>
            </a:avLst>
          </a:prstGeom>
          <a:solidFill>
            <a:srgbClr val="0D2B55"/>
          </a:solidFill>
          <a:ln w="12700">
            <a:solidFill>
              <a:srgbClr val="0D2B55"/>
            </a:solidFill>
            <a:prstDash val="solid"/>
          </a:ln>
        </p:spPr>
        <p:txBody>
          <a:bodyPr/>
          <a:lstStyle/>
          <a:p>
            <a:endParaRPr lang="ko-KR" altLang="en-US"/>
          </a:p>
        </p:txBody>
      </p:sp>
      <p:sp>
        <p:nvSpPr>
          <p:cNvPr id="7" name="Shape 5"/>
          <p:cNvSpPr/>
          <p:nvPr/>
        </p:nvSpPr>
        <p:spPr>
          <a:xfrm>
            <a:off x="320040" y="1280160"/>
            <a:ext cx="2743200" cy="182880"/>
          </a:xfrm>
          <a:prstGeom prst="rect">
            <a:avLst/>
          </a:prstGeom>
          <a:solidFill>
            <a:srgbClr val="0D2B55"/>
          </a:solidFill>
          <a:ln w="12700">
            <a:solidFill>
              <a:srgbClr val="0D2B55"/>
            </a:solidFill>
            <a:prstDash val="solid"/>
          </a:ln>
        </p:spPr>
        <p:txBody>
          <a:bodyPr/>
          <a:lstStyle/>
          <a:p>
            <a:endParaRPr lang="ko-KR" altLang="en-US"/>
          </a:p>
        </p:txBody>
      </p:sp>
      <p:sp>
        <p:nvSpPr>
          <p:cNvPr id="8" name="Text 6"/>
          <p:cNvSpPr/>
          <p:nvPr/>
        </p:nvSpPr>
        <p:spPr>
          <a:xfrm>
            <a:off x="429768" y="987552"/>
            <a:ext cx="2523744" cy="457200"/>
          </a:xfrm>
          <a:prstGeom prst="rect">
            <a:avLst/>
          </a:prstGeom>
          <a:noFill/>
          <a:ln/>
        </p:spPr>
        <p:txBody>
          <a:bodyPr wrap="square" lIns="0" tIns="0" rIns="0" bIns="0" rtlCol="0" anchor="ctr"/>
          <a:lstStyle/>
          <a:p>
            <a:pPr marL="0" indent="0">
              <a:buNone/>
            </a:pPr>
            <a:r>
              <a:rPr lang="en-US" sz="1500" b="1" dirty="0" err="1">
                <a:solidFill>
                  <a:srgbClr val="FFFFFF"/>
                </a:solidFill>
                <a:latin typeface="Arial" pitchFamily="34" charset="0"/>
                <a:ea typeface="Arial" pitchFamily="34" charset="-122"/>
                <a:cs typeface="Arial" pitchFamily="34" charset="-120"/>
              </a:rPr>
              <a:t>배경</a:t>
            </a:r>
            <a:endParaRPr lang="en-US" sz="1500" dirty="0"/>
          </a:p>
        </p:txBody>
      </p:sp>
      <p:sp>
        <p:nvSpPr>
          <p:cNvPr id="9" name="Text 7"/>
          <p:cNvSpPr/>
          <p:nvPr/>
        </p:nvSpPr>
        <p:spPr>
          <a:xfrm>
            <a:off x="457200" y="1600200"/>
            <a:ext cx="2468880" cy="2834640"/>
          </a:xfrm>
          <a:prstGeom prst="rect">
            <a:avLst/>
          </a:prstGeom>
          <a:noFill/>
          <a:ln/>
        </p:spPr>
        <p:txBody>
          <a:bodyPr wrap="square" lIns="0" tIns="0" rIns="0" bIns="0" rtlCol="0" anchor="t"/>
          <a:lstStyle/>
          <a:p>
            <a:pPr marL="0" indent="0">
              <a:spcAft>
                <a:spcPts val="400"/>
              </a:spcAft>
              <a:buNone/>
            </a:pPr>
            <a:r>
              <a:rPr lang="en-US" sz="1200" dirty="0">
                <a:solidFill>
                  <a:srgbClr val="2C3E50"/>
                </a:solidFill>
                <a:latin typeface="Arial" pitchFamily="34" charset="0"/>
                <a:ea typeface="Arial" pitchFamily="34" charset="-122"/>
                <a:cs typeface="Arial" pitchFamily="34" charset="-120"/>
              </a:rPr>
              <a:t>심부전은 조기 진단과 위험 요인 관리가 생존율에 직결되는 중증 질환으로, 데이터 기반의 예측 모델이 임상 의사결정에 핵심적인 역할을 할 수 있습니다.</a:t>
            </a:r>
            <a:endParaRPr lang="en-US" sz="1200" dirty="0"/>
          </a:p>
        </p:txBody>
      </p:sp>
      <p:sp>
        <p:nvSpPr>
          <p:cNvPr id="10" name="Shape 8"/>
          <p:cNvSpPr/>
          <p:nvPr/>
        </p:nvSpPr>
        <p:spPr>
          <a:xfrm>
            <a:off x="3246120" y="960120"/>
            <a:ext cx="2743200" cy="3749040"/>
          </a:xfrm>
          <a:prstGeom prst="roundRect">
            <a:avLst>
              <a:gd name="adj" fmla="val 4000"/>
            </a:avLst>
          </a:prstGeom>
          <a:solidFill>
            <a:srgbClr val="FFFFFF"/>
          </a:solidFill>
          <a:ln w="12700">
            <a:solidFill>
              <a:srgbClr val="D5D8DC"/>
            </a:solidFill>
            <a:prstDash val="solid"/>
          </a:ln>
          <a:effectLst>
            <a:outerShdw blurRad="101600" dist="38100" dir="2700000" algn="bl" rotWithShape="0">
              <a:srgbClr val="000000">
                <a:alpha val="10000"/>
              </a:srgbClr>
            </a:outerShdw>
          </a:effectLst>
        </p:spPr>
        <p:txBody>
          <a:bodyPr/>
          <a:lstStyle/>
          <a:p>
            <a:endParaRPr lang="ko-KR" altLang="en-US" dirty="0"/>
          </a:p>
        </p:txBody>
      </p:sp>
      <p:sp>
        <p:nvSpPr>
          <p:cNvPr id="11" name="Shape 9"/>
          <p:cNvSpPr/>
          <p:nvPr/>
        </p:nvSpPr>
        <p:spPr>
          <a:xfrm>
            <a:off x="3246120" y="960120"/>
            <a:ext cx="2743200" cy="502920"/>
          </a:xfrm>
          <a:prstGeom prst="roundRect">
            <a:avLst>
              <a:gd name="adj" fmla="val 21818"/>
            </a:avLst>
          </a:prstGeom>
          <a:solidFill>
            <a:srgbClr val="1A5276"/>
          </a:solidFill>
          <a:ln w="12700">
            <a:solidFill>
              <a:srgbClr val="1A5276"/>
            </a:solidFill>
            <a:prstDash val="solid"/>
          </a:ln>
        </p:spPr>
        <p:txBody>
          <a:bodyPr/>
          <a:lstStyle/>
          <a:p>
            <a:endParaRPr lang="ko-KR" altLang="en-US"/>
          </a:p>
        </p:txBody>
      </p:sp>
      <p:sp>
        <p:nvSpPr>
          <p:cNvPr id="12" name="Shape 10"/>
          <p:cNvSpPr/>
          <p:nvPr/>
        </p:nvSpPr>
        <p:spPr>
          <a:xfrm>
            <a:off x="3246120" y="1280160"/>
            <a:ext cx="2743200" cy="182880"/>
          </a:xfrm>
          <a:prstGeom prst="rect">
            <a:avLst/>
          </a:prstGeom>
          <a:solidFill>
            <a:srgbClr val="1A5276"/>
          </a:solidFill>
          <a:ln w="12700">
            <a:solidFill>
              <a:srgbClr val="1A5276"/>
            </a:solidFill>
            <a:prstDash val="solid"/>
          </a:ln>
        </p:spPr>
        <p:txBody>
          <a:bodyPr/>
          <a:lstStyle/>
          <a:p>
            <a:endParaRPr lang="ko-KR" altLang="en-US"/>
          </a:p>
        </p:txBody>
      </p:sp>
      <p:sp>
        <p:nvSpPr>
          <p:cNvPr id="13" name="Text 11"/>
          <p:cNvSpPr/>
          <p:nvPr/>
        </p:nvSpPr>
        <p:spPr>
          <a:xfrm>
            <a:off x="3355848" y="987552"/>
            <a:ext cx="2523744" cy="457200"/>
          </a:xfrm>
          <a:prstGeom prst="rect">
            <a:avLst/>
          </a:prstGeom>
          <a:noFill/>
          <a:ln/>
        </p:spPr>
        <p:txBody>
          <a:bodyPr wrap="square" lIns="0" tIns="0" rIns="0" bIns="0" rtlCol="0" anchor="ctr"/>
          <a:lstStyle/>
          <a:p>
            <a:pPr marL="0" indent="0">
              <a:buNone/>
            </a:pPr>
            <a:r>
              <a:rPr lang="en-US" sz="1500" b="1" dirty="0" err="1">
                <a:solidFill>
                  <a:srgbClr val="FFFFFF"/>
                </a:solidFill>
                <a:latin typeface="Arial" pitchFamily="34" charset="0"/>
                <a:ea typeface="Arial" pitchFamily="34" charset="-122"/>
                <a:cs typeface="Arial" pitchFamily="34" charset="-120"/>
              </a:rPr>
              <a:t>목적</a:t>
            </a:r>
            <a:endParaRPr lang="en-US" sz="1500" dirty="0"/>
          </a:p>
        </p:txBody>
      </p:sp>
      <p:sp>
        <p:nvSpPr>
          <p:cNvPr id="14" name="Text 12"/>
          <p:cNvSpPr/>
          <p:nvPr/>
        </p:nvSpPr>
        <p:spPr>
          <a:xfrm>
            <a:off x="3383280" y="1600200"/>
            <a:ext cx="2468880" cy="2834640"/>
          </a:xfrm>
          <a:prstGeom prst="rect">
            <a:avLst/>
          </a:prstGeom>
          <a:noFill/>
          <a:ln/>
        </p:spPr>
        <p:txBody>
          <a:bodyPr wrap="square" lIns="0" tIns="0" rIns="0" bIns="0" rtlCol="0" anchor="t"/>
          <a:lstStyle/>
          <a:p>
            <a:pPr marL="0" indent="0">
              <a:spcAft>
                <a:spcPts val="400"/>
              </a:spcAft>
              <a:buNone/>
            </a:pPr>
            <a:r>
              <a:rPr lang="en-US" sz="1200" dirty="0">
                <a:solidFill>
                  <a:srgbClr val="2C3E50"/>
                </a:solidFill>
                <a:latin typeface="Arial" pitchFamily="34" charset="0"/>
                <a:ea typeface="Arial" pitchFamily="34" charset="-122"/>
                <a:cs typeface="Arial" pitchFamily="34" charset="-120"/>
              </a:rPr>
              <a:t>12가지 임상 지표를 활용하여 심부전 환자의 생존/</a:t>
            </a:r>
            <a:r>
              <a:rPr lang="en-US" sz="1200" dirty="0" err="1">
                <a:solidFill>
                  <a:srgbClr val="2C3E50"/>
                </a:solidFill>
                <a:latin typeface="Arial" pitchFamily="34" charset="0"/>
                <a:ea typeface="Arial" pitchFamily="34" charset="-122"/>
                <a:cs typeface="Arial" pitchFamily="34" charset="-120"/>
              </a:rPr>
              <a:t>사망</a:t>
            </a:r>
            <a:r>
              <a:rPr lang="en-US" sz="1200" dirty="0">
                <a:solidFill>
                  <a:srgbClr val="2C3E50"/>
                </a:solidFill>
                <a:latin typeface="Arial" pitchFamily="34" charset="0"/>
                <a:ea typeface="Arial" pitchFamily="34" charset="-122"/>
                <a:cs typeface="Arial" pitchFamily="34" charset="-120"/>
              </a:rPr>
              <a:t> </a:t>
            </a:r>
            <a:r>
              <a:rPr lang="en-US" sz="1200" dirty="0" err="1">
                <a:solidFill>
                  <a:srgbClr val="2C3E50"/>
                </a:solidFill>
                <a:latin typeface="Arial" pitchFamily="34" charset="0"/>
                <a:ea typeface="Arial" pitchFamily="34" charset="-122"/>
                <a:cs typeface="Arial" pitchFamily="34" charset="-120"/>
              </a:rPr>
              <a:t>여부를</a:t>
            </a:r>
            <a:r>
              <a:rPr lang="en-US" sz="1200" dirty="0">
                <a:solidFill>
                  <a:srgbClr val="2C3E50"/>
                </a:solidFill>
                <a:latin typeface="Arial" pitchFamily="34" charset="0"/>
                <a:ea typeface="Arial" pitchFamily="34" charset="-122"/>
                <a:cs typeface="Arial" pitchFamily="34" charset="-120"/>
              </a:rPr>
              <a:t> </a:t>
            </a:r>
            <a:r>
              <a:rPr lang="en-US" sz="1200" dirty="0" err="1">
                <a:solidFill>
                  <a:srgbClr val="2C3E50"/>
                </a:solidFill>
                <a:latin typeface="Arial" pitchFamily="34" charset="0"/>
                <a:ea typeface="Arial" pitchFamily="34" charset="-122"/>
                <a:cs typeface="Arial" pitchFamily="34" charset="-120"/>
              </a:rPr>
              <a:t>예측하는</a:t>
            </a:r>
            <a:r>
              <a:rPr lang="en-US" sz="1200" dirty="0">
                <a:solidFill>
                  <a:srgbClr val="2C3E50"/>
                </a:solidFill>
                <a:latin typeface="Arial" pitchFamily="34" charset="0"/>
                <a:ea typeface="Arial" pitchFamily="34" charset="-122"/>
                <a:cs typeface="Arial" pitchFamily="34" charset="-120"/>
              </a:rPr>
              <a:t> 머신러닝 분류 모델을 구축하고, 핵심 위험 변수를 도출합니다.</a:t>
            </a:r>
            <a:endParaRPr lang="en-US" sz="1200" dirty="0"/>
          </a:p>
        </p:txBody>
      </p:sp>
      <p:sp>
        <p:nvSpPr>
          <p:cNvPr id="15" name="Shape 13"/>
          <p:cNvSpPr/>
          <p:nvPr/>
        </p:nvSpPr>
        <p:spPr>
          <a:xfrm>
            <a:off x="6172200" y="960120"/>
            <a:ext cx="2743200" cy="3749040"/>
          </a:xfrm>
          <a:prstGeom prst="roundRect">
            <a:avLst>
              <a:gd name="adj" fmla="val 4000"/>
            </a:avLst>
          </a:prstGeom>
          <a:solidFill>
            <a:srgbClr val="FFFFFF"/>
          </a:solidFill>
          <a:ln w="12700">
            <a:solidFill>
              <a:srgbClr val="D5D8DC"/>
            </a:solidFill>
            <a:prstDash val="solid"/>
          </a:ln>
          <a:effectLst>
            <a:outerShdw blurRad="101600" dist="38100" dir="2700000" algn="bl" rotWithShape="0">
              <a:srgbClr val="000000">
                <a:alpha val="10000"/>
              </a:srgbClr>
            </a:outerShdw>
          </a:effectLst>
        </p:spPr>
        <p:txBody>
          <a:bodyPr/>
          <a:lstStyle/>
          <a:p>
            <a:r>
              <a:rPr lang="ko-KR" altLang="en-US" dirty="0" err="1"/>
              <a:t>ㄴ</a:t>
            </a:r>
            <a:endParaRPr lang="ko-KR" altLang="en-US" dirty="0"/>
          </a:p>
        </p:txBody>
      </p:sp>
      <p:sp>
        <p:nvSpPr>
          <p:cNvPr id="16" name="Shape 14"/>
          <p:cNvSpPr/>
          <p:nvPr/>
        </p:nvSpPr>
        <p:spPr>
          <a:xfrm>
            <a:off x="6172200" y="960120"/>
            <a:ext cx="2743200" cy="502920"/>
          </a:xfrm>
          <a:prstGeom prst="roundRect">
            <a:avLst>
              <a:gd name="adj" fmla="val 21818"/>
            </a:avLst>
          </a:prstGeom>
          <a:solidFill>
            <a:srgbClr val="148F77"/>
          </a:solidFill>
          <a:ln w="12700">
            <a:solidFill>
              <a:srgbClr val="148F77"/>
            </a:solidFill>
            <a:prstDash val="solid"/>
          </a:ln>
        </p:spPr>
        <p:txBody>
          <a:bodyPr/>
          <a:lstStyle/>
          <a:p>
            <a:endParaRPr lang="ko-KR" altLang="en-US"/>
          </a:p>
        </p:txBody>
      </p:sp>
      <p:sp>
        <p:nvSpPr>
          <p:cNvPr id="17" name="Shape 15"/>
          <p:cNvSpPr/>
          <p:nvPr/>
        </p:nvSpPr>
        <p:spPr>
          <a:xfrm>
            <a:off x="6172200" y="1280160"/>
            <a:ext cx="2743200" cy="182880"/>
          </a:xfrm>
          <a:prstGeom prst="rect">
            <a:avLst/>
          </a:prstGeom>
          <a:solidFill>
            <a:srgbClr val="148F77"/>
          </a:solidFill>
          <a:ln w="12700">
            <a:solidFill>
              <a:srgbClr val="148F77"/>
            </a:solidFill>
            <a:prstDash val="solid"/>
          </a:ln>
        </p:spPr>
        <p:txBody>
          <a:bodyPr/>
          <a:lstStyle/>
          <a:p>
            <a:endParaRPr lang="ko-KR" altLang="en-US"/>
          </a:p>
        </p:txBody>
      </p:sp>
      <p:sp>
        <p:nvSpPr>
          <p:cNvPr id="18" name="Text 16"/>
          <p:cNvSpPr/>
          <p:nvPr/>
        </p:nvSpPr>
        <p:spPr>
          <a:xfrm>
            <a:off x="6281928" y="987552"/>
            <a:ext cx="2523744" cy="4572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데이터</a:t>
            </a:r>
            <a:endParaRPr lang="en-US" sz="1500" dirty="0"/>
          </a:p>
        </p:txBody>
      </p:sp>
      <p:sp>
        <p:nvSpPr>
          <p:cNvPr id="19" name="Text 17"/>
          <p:cNvSpPr/>
          <p:nvPr/>
        </p:nvSpPr>
        <p:spPr>
          <a:xfrm>
            <a:off x="6309360" y="1600200"/>
            <a:ext cx="2468880" cy="2834640"/>
          </a:xfrm>
          <a:prstGeom prst="rect">
            <a:avLst/>
          </a:prstGeom>
          <a:noFill/>
          <a:ln/>
        </p:spPr>
        <p:txBody>
          <a:bodyPr wrap="square" lIns="0" tIns="0" rIns="0" bIns="0" rtlCol="0" anchor="t"/>
          <a:lstStyle/>
          <a:p>
            <a:pPr marL="0" indent="0">
              <a:spcAft>
                <a:spcPts val="400"/>
              </a:spcAft>
              <a:buNone/>
            </a:pPr>
            <a:r>
              <a:rPr lang="en-US" sz="1200" dirty="0">
                <a:solidFill>
                  <a:srgbClr val="2C3E50"/>
                </a:solidFill>
                <a:latin typeface="Arial" pitchFamily="34" charset="0"/>
                <a:ea typeface="Arial" pitchFamily="34" charset="-122"/>
                <a:cs typeface="Arial" pitchFamily="34" charset="-120"/>
              </a:rPr>
              <a:t>Kaggle Heart Failure Clinical Records Dataset</a:t>
            </a:r>
            <a:endParaRPr lang="en-US" sz="1200" dirty="0"/>
          </a:p>
          <a:p>
            <a:pPr marL="0" indent="0">
              <a:spcAft>
                <a:spcPts val="400"/>
              </a:spcAft>
              <a:buNone/>
            </a:pPr>
            <a:r>
              <a:rPr lang="en-US" sz="1200" dirty="0">
                <a:solidFill>
                  <a:srgbClr val="2C3E50"/>
                </a:solidFill>
                <a:latin typeface="Arial" pitchFamily="34" charset="0"/>
                <a:ea typeface="Arial" pitchFamily="34" charset="-122"/>
                <a:cs typeface="Arial" pitchFamily="34" charset="-120"/>
              </a:rPr>
              <a:t>• 총 299명의 환자 샘플</a:t>
            </a:r>
            <a:endParaRPr lang="en-US" sz="1200" dirty="0"/>
          </a:p>
          <a:p>
            <a:pPr marL="0" indent="0">
              <a:spcAft>
                <a:spcPts val="400"/>
              </a:spcAft>
              <a:buNone/>
            </a:pPr>
            <a:r>
              <a:rPr lang="en-US" sz="1200" dirty="0">
                <a:solidFill>
                  <a:srgbClr val="2C3E50"/>
                </a:solidFill>
                <a:latin typeface="Arial" pitchFamily="34" charset="0"/>
                <a:ea typeface="Arial" pitchFamily="34" charset="-122"/>
                <a:cs typeface="Arial" pitchFamily="34" charset="-120"/>
              </a:rPr>
              <a:t>• 12개 임상 독립 변수</a:t>
            </a:r>
            <a:endParaRPr lang="en-US" sz="1200" dirty="0"/>
          </a:p>
          <a:p>
            <a:pPr marL="0" indent="0">
              <a:spcAft>
                <a:spcPts val="400"/>
              </a:spcAft>
              <a:buNone/>
            </a:pPr>
            <a:r>
              <a:rPr lang="en-US" sz="1200" dirty="0">
                <a:solidFill>
                  <a:srgbClr val="2C3E50"/>
                </a:solidFill>
                <a:latin typeface="Arial" pitchFamily="34" charset="0"/>
                <a:ea typeface="Arial" pitchFamily="34" charset="-122"/>
                <a:cs typeface="Arial" pitchFamily="34" charset="-120"/>
              </a:rPr>
              <a:t>• 1개 목표 변수 (DEATH_EVENT)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5"/>
          </a:solidFill>
          <a:ln w="12700">
            <a:solidFill>
              <a:srgbClr val="0D2B55"/>
            </a:solidFill>
            <a:prstDash val="solid"/>
          </a:ln>
        </p:spPr>
        <p:txBody>
          <a:bodyPr/>
          <a:lstStyle/>
          <a:p>
            <a:endParaRPr lang="ko-KR" alt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데이터 탐색 및 전처리 (EDA)</a:t>
            </a:r>
            <a:endParaRPr lang="en-US" sz="2600" dirty="0"/>
          </a:p>
        </p:txBody>
      </p:sp>
      <p:sp>
        <p:nvSpPr>
          <p:cNvPr id="4" name="Text 2"/>
          <p:cNvSpPr/>
          <p:nvPr/>
        </p:nvSpPr>
        <p:spPr>
          <a:xfrm>
            <a:off x="8046720" y="0"/>
            <a:ext cx="640080" cy="777240"/>
          </a:xfrm>
          <a:prstGeom prst="rect">
            <a:avLst/>
          </a:prstGeom>
          <a:noFill/>
          <a:ln/>
        </p:spPr>
        <p:txBody>
          <a:bodyPr wrap="square" lIns="0" tIns="0" rIns="0" bIns="0" rtlCol="0" anchor="ctr"/>
          <a:lstStyle/>
          <a:p>
            <a:pPr marL="0" indent="0" algn="r">
              <a:buNone/>
            </a:pPr>
            <a:r>
              <a:rPr lang="en-US" sz="2000" b="1" dirty="0">
                <a:solidFill>
                  <a:srgbClr val="F39C12"/>
                </a:solidFill>
                <a:latin typeface="Arial" pitchFamily="34" charset="0"/>
                <a:ea typeface="Arial" pitchFamily="34" charset="-122"/>
                <a:cs typeface="Arial" pitchFamily="34" charset="-120"/>
              </a:rPr>
              <a:t>03</a:t>
            </a:r>
            <a:endParaRPr lang="en-US" sz="2000" dirty="0"/>
          </a:p>
        </p:txBody>
      </p:sp>
      <p:sp>
        <p:nvSpPr>
          <p:cNvPr id="5" name="Shape 3"/>
          <p:cNvSpPr/>
          <p:nvPr/>
        </p:nvSpPr>
        <p:spPr>
          <a:xfrm>
            <a:off x="274320" y="914400"/>
            <a:ext cx="3200400" cy="3931920"/>
          </a:xfrm>
          <a:prstGeom prst="roundRect">
            <a:avLst>
              <a:gd name="adj" fmla="val 2857"/>
            </a:avLst>
          </a:prstGeom>
          <a:solidFill>
            <a:srgbClr val="FFFFFF"/>
          </a:solidFill>
          <a:ln w="12700">
            <a:solidFill>
              <a:srgbClr val="D5D8DC"/>
            </a:solidFill>
            <a:prstDash val="solid"/>
          </a:ln>
          <a:effectLst>
            <a:outerShdw blurRad="76200" dist="25400" dir="2700000" algn="bl" rotWithShape="0">
              <a:srgbClr val="000000">
                <a:alpha val="8000"/>
              </a:srgbClr>
            </a:outerShdw>
          </a:effectLst>
        </p:spPr>
        <p:txBody>
          <a:bodyPr/>
          <a:lstStyle/>
          <a:p>
            <a:endParaRPr lang="ko-KR" altLang="en-US"/>
          </a:p>
        </p:txBody>
      </p:sp>
      <p:sp>
        <p:nvSpPr>
          <p:cNvPr id="6" name="Text 4"/>
          <p:cNvSpPr/>
          <p:nvPr/>
        </p:nvSpPr>
        <p:spPr>
          <a:xfrm>
            <a:off x="457200" y="1005840"/>
            <a:ext cx="2834640" cy="365760"/>
          </a:xfrm>
          <a:prstGeom prst="rect">
            <a:avLst/>
          </a:prstGeom>
          <a:noFill/>
          <a:ln/>
        </p:spPr>
        <p:txBody>
          <a:bodyPr wrap="square" lIns="0" tIns="0" rIns="0" bIns="0" rtlCol="0" anchor="ctr"/>
          <a:lstStyle/>
          <a:p>
            <a:pPr marL="0" indent="0">
              <a:buNone/>
            </a:pPr>
            <a:r>
              <a:rPr lang="en-US" sz="1500" b="1" dirty="0">
                <a:solidFill>
                  <a:srgbClr val="0D2B55"/>
                </a:solidFill>
                <a:latin typeface="Cambria" pitchFamily="34" charset="0"/>
                <a:ea typeface="Cambria" pitchFamily="34" charset="-122"/>
                <a:cs typeface="Cambria" pitchFamily="34" charset="-120"/>
              </a:rPr>
              <a:t>분석 전략</a:t>
            </a:r>
            <a:endParaRPr lang="en-US" sz="1500" dirty="0"/>
          </a:p>
        </p:txBody>
      </p:sp>
      <p:sp>
        <p:nvSpPr>
          <p:cNvPr id="7" name="Shape 5"/>
          <p:cNvSpPr/>
          <p:nvPr/>
        </p:nvSpPr>
        <p:spPr>
          <a:xfrm>
            <a:off x="411480" y="1490472"/>
            <a:ext cx="201168" cy="201168"/>
          </a:xfrm>
          <a:prstGeom prst="ellipse">
            <a:avLst/>
          </a:prstGeom>
          <a:solidFill>
            <a:srgbClr val="148F77"/>
          </a:solidFill>
          <a:ln w="12700">
            <a:solidFill>
              <a:srgbClr val="148F77"/>
            </a:solidFill>
            <a:prstDash val="solid"/>
          </a:ln>
        </p:spPr>
        <p:txBody>
          <a:bodyPr/>
          <a:lstStyle/>
          <a:p>
            <a:endParaRPr lang="ko-KR" altLang="en-US"/>
          </a:p>
        </p:txBody>
      </p:sp>
      <p:sp>
        <p:nvSpPr>
          <p:cNvPr id="8" name="Text 6"/>
          <p:cNvSpPr/>
          <p:nvPr/>
        </p:nvSpPr>
        <p:spPr>
          <a:xfrm>
            <a:off x="685800" y="1472184"/>
            <a:ext cx="2651760" cy="228600"/>
          </a:xfrm>
          <a:prstGeom prst="rect">
            <a:avLst/>
          </a:prstGeom>
          <a:noFill/>
          <a:ln/>
        </p:spPr>
        <p:txBody>
          <a:bodyPr wrap="square" lIns="0" tIns="0" rIns="0" bIns="0" rtlCol="0" anchor="ctr"/>
          <a:lstStyle/>
          <a:p>
            <a:pPr marL="0" indent="0">
              <a:buNone/>
            </a:pPr>
            <a:r>
              <a:rPr lang="en-US" sz="1100" b="1" dirty="0">
                <a:solidFill>
                  <a:srgbClr val="0D2B55"/>
                </a:solidFill>
                <a:latin typeface="Arial" pitchFamily="34" charset="0"/>
                <a:ea typeface="Arial" pitchFamily="34" charset="-122"/>
                <a:cs typeface="Arial" pitchFamily="34" charset="-120"/>
              </a:rPr>
              <a:t>생존/사망 한글 라벨링</a:t>
            </a:r>
            <a:endParaRPr lang="en-US" sz="1100" dirty="0"/>
          </a:p>
        </p:txBody>
      </p:sp>
      <p:sp>
        <p:nvSpPr>
          <p:cNvPr id="9" name="Text 7"/>
          <p:cNvSpPr/>
          <p:nvPr/>
        </p:nvSpPr>
        <p:spPr>
          <a:xfrm>
            <a:off x="685800" y="1709928"/>
            <a:ext cx="2651760" cy="411480"/>
          </a:xfrm>
          <a:prstGeom prst="rect">
            <a:avLst/>
          </a:prstGeom>
          <a:noFill/>
          <a:ln/>
        </p:spPr>
        <p:txBody>
          <a:bodyPr wrap="square" lIns="0" tIns="0" rIns="0" bIns="0" rtlCol="0" anchor="ctr"/>
          <a:lstStyle/>
          <a:p>
            <a:pPr marL="0" indent="0">
              <a:buNone/>
            </a:pPr>
            <a:r>
              <a:rPr lang="en-US" sz="950" dirty="0">
                <a:solidFill>
                  <a:srgbClr val="2C3E50"/>
                </a:solidFill>
                <a:latin typeface="Arial" pitchFamily="34" charset="0"/>
                <a:ea typeface="Arial" pitchFamily="34" charset="-122"/>
                <a:cs typeface="Arial" pitchFamily="34" charset="-120"/>
              </a:rPr>
              <a:t>데이터 직관성 향상을 위해 0/1을 '생존'/'사망'으로 변환</a:t>
            </a:r>
            <a:endParaRPr lang="en-US" sz="950" dirty="0"/>
          </a:p>
        </p:txBody>
      </p:sp>
      <p:sp>
        <p:nvSpPr>
          <p:cNvPr id="10" name="Shape 8"/>
          <p:cNvSpPr/>
          <p:nvPr/>
        </p:nvSpPr>
        <p:spPr>
          <a:xfrm>
            <a:off x="411480" y="2240280"/>
            <a:ext cx="201168" cy="201168"/>
          </a:xfrm>
          <a:prstGeom prst="ellipse">
            <a:avLst/>
          </a:prstGeom>
          <a:solidFill>
            <a:srgbClr val="148F77"/>
          </a:solidFill>
          <a:ln w="12700">
            <a:solidFill>
              <a:srgbClr val="148F77"/>
            </a:solidFill>
            <a:prstDash val="solid"/>
          </a:ln>
        </p:spPr>
        <p:txBody>
          <a:bodyPr/>
          <a:lstStyle/>
          <a:p>
            <a:endParaRPr lang="ko-KR" altLang="en-US"/>
          </a:p>
        </p:txBody>
      </p:sp>
      <p:sp>
        <p:nvSpPr>
          <p:cNvPr id="11" name="Text 9"/>
          <p:cNvSpPr/>
          <p:nvPr/>
        </p:nvSpPr>
        <p:spPr>
          <a:xfrm>
            <a:off x="685800" y="2221992"/>
            <a:ext cx="2651760" cy="228600"/>
          </a:xfrm>
          <a:prstGeom prst="rect">
            <a:avLst/>
          </a:prstGeom>
          <a:noFill/>
          <a:ln/>
        </p:spPr>
        <p:txBody>
          <a:bodyPr wrap="square" lIns="0" tIns="0" rIns="0" bIns="0" rtlCol="0" anchor="ctr"/>
          <a:lstStyle/>
          <a:p>
            <a:pPr marL="0" indent="0">
              <a:buNone/>
            </a:pPr>
            <a:r>
              <a:rPr lang="en-US" sz="1100" b="1" dirty="0">
                <a:solidFill>
                  <a:srgbClr val="0D2B55"/>
                </a:solidFill>
                <a:latin typeface="Arial" pitchFamily="34" charset="0"/>
                <a:ea typeface="Arial" pitchFamily="34" charset="-122"/>
                <a:cs typeface="Arial" pitchFamily="34" charset="-120"/>
              </a:rPr>
              <a:t>컬러 팔레트 통일</a:t>
            </a:r>
            <a:endParaRPr lang="en-US" sz="1100" dirty="0"/>
          </a:p>
        </p:txBody>
      </p:sp>
      <p:sp>
        <p:nvSpPr>
          <p:cNvPr id="12" name="Text 10"/>
          <p:cNvSpPr/>
          <p:nvPr/>
        </p:nvSpPr>
        <p:spPr>
          <a:xfrm>
            <a:off x="685800" y="2459736"/>
            <a:ext cx="2651760" cy="411480"/>
          </a:xfrm>
          <a:prstGeom prst="rect">
            <a:avLst/>
          </a:prstGeom>
          <a:noFill/>
          <a:ln/>
        </p:spPr>
        <p:txBody>
          <a:bodyPr wrap="square" lIns="0" tIns="0" rIns="0" bIns="0" rtlCol="0" anchor="ctr"/>
          <a:lstStyle/>
          <a:p>
            <a:pPr marL="0" indent="0">
              <a:buNone/>
            </a:pPr>
            <a:r>
              <a:rPr lang="en-US" sz="950" dirty="0">
                <a:solidFill>
                  <a:srgbClr val="2C3E50"/>
                </a:solidFill>
                <a:latin typeface="Arial" pitchFamily="34" charset="0"/>
                <a:ea typeface="Arial" pitchFamily="34" charset="-122"/>
                <a:cs typeface="Arial" pitchFamily="34" charset="-120"/>
              </a:rPr>
              <a:t>생존: 파랑(#1f77b4), 사망: 빨강(#d62728)</a:t>
            </a:r>
            <a:endParaRPr lang="en-US" sz="950" dirty="0"/>
          </a:p>
          <a:p>
            <a:pPr marL="0" indent="0">
              <a:buNone/>
            </a:pPr>
            <a:r>
              <a:rPr lang="en-US" sz="950" dirty="0">
                <a:solidFill>
                  <a:srgbClr val="2C3E50"/>
                </a:solidFill>
                <a:latin typeface="Arial" pitchFamily="34" charset="0"/>
                <a:ea typeface="Arial" pitchFamily="34" charset="-122"/>
                <a:cs typeface="Arial" pitchFamily="34" charset="-120"/>
              </a:rPr>
              <a:t>전 시각화 일관성 유지</a:t>
            </a:r>
            <a:endParaRPr lang="en-US" sz="950" dirty="0"/>
          </a:p>
        </p:txBody>
      </p:sp>
      <p:sp>
        <p:nvSpPr>
          <p:cNvPr id="13" name="Shape 11"/>
          <p:cNvSpPr/>
          <p:nvPr/>
        </p:nvSpPr>
        <p:spPr>
          <a:xfrm>
            <a:off x="411480" y="2990088"/>
            <a:ext cx="201168" cy="201168"/>
          </a:xfrm>
          <a:prstGeom prst="ellipse">
            <a:avLst/>
          </a:prstGeom>
          <a:solidFill>
            <a:srgbClr val="148F77"/>
          </a:solidFill>
          <a:ln w="12700">
            <a:solidFill>
              <a:srgbClr val="148F77"/>
            </a:solidFill>
            <a:prstDash val="solid"/>
          </a:ln>
        </p:spPr>
        <p:txBody>
          <a:bodyPr/>
          <a:lstStyle/>
          <a:p>
            <a:endParaRPr lang="ko-KR" altLang="en-US"/>
          </a:p>
        </p:txBody>
      </p:sp>
      <p:sp>
        <p:nvSpPr>
          <p:cNvPr id="14" name="Text 12"/>
          <p:cNvSpPr/>
          <p:nvPr/>
        </p:nvSpPr>
        <p:spPr>
          <a:xfrm>
            <a:off x="685800" y="2971800"/>
            <a:ext cx="2651760" cy="228600"/>
          </a:xfrm>
          <a:prstGeom prst="rect">
            <a:avLst/>
          </a:prstGeom>
          <a:noFill/>
          <a:ln/>
        </p:spPr>
        <p:txBody>
          <a:bodyPr wrap="square" lIns="0" tIns="0" rIns="0" bIns="0" rtlCol="0" anchor="ctr"/>
          <a:lstStyle/>
          <a:p>
            <a:pPr marL="0" indent="0">
              <a:buNone/>
            </a:pPr>
            <a:r>
              <a:rPr lang="en-US" sz="1100" b="1" dirty="0">
                <a:solidFill>
                  <a:srgbClr val="0D2B55"/>
                </a:solidFill>
                <a:latin typeface="Arial" pitchFamily="34" charset="0"/>
                <a:ea typeface="Arial" pitchFamily="34" charset="-122"/>
                <a:cs typeface="Arial" pitchFamily="34" charset="-120"/>
              </a:rPr>
              <a:t>12개 변수 전수 분석</a:t>
            </a:r>
            <a:endParaRPr lang="en-US" sz="1100" dirty="0"/>
          </a:p>
        </p:txBody>
      </p:sp>
      <p:sp>
        <p:nvSpPr>
          <p:cNvPr id="15" name="Text 13"/>
          <p:cNvSpPr/>
          <p:nvPr/>
        </p:nvSpPr>
        <p:spPr>
          <a:xfrm>
            <a:off x="685800" y="3209544"/>
            <a:ext cx="2651760" cy="411480"/>
          </a:xfrm>
          <a:prstGeom prst="rect">
            <a:avLst/>
          </a:prstGeom>
          <a:noFill/>
          <a:ln/>
        </p:spPr>
        <p:txBody>
          <a:bodyPr wrap="square" lIns="0" tIns="0" rIns="0" bIns="0" rtlCol="0" anchor="ctr"/>
          <a:lstStyle/>
          <a:p>
            <a:pPr marL="0" indent="0">
              <a:buNone/>
            </a:pPr>
            <a:r>
              <a:rPr lang="en-US" sz="950" dirty="0">
                <a:solidFill>
                  <a:srgbClr val="2C3E50"/>
                </a:solidFill>
                <a:latin typeface="Arial" pitchFamily="34" charset="0"/>
                <a:ea typeface="Arial" pitchFamily="34" charset="-122"/>
                <a:cs typeface="Arial" pitchFamily="34" charset="-120"/>
              </a:rPr>
              <a:t>각 임상 지표별 생존/사망 분포 및 상관관계 조사</a:t>
            </a:r>
            <a:endParaRPr lang="en-US" sz="950" dirty="0"/>
          </a:p>
        </p:txBody>
      </p:sp>
      <p:sp>
        <p:nvSpPr>
          <p:cNvPr id="16" name="Shape 14"/>
          <p:cNvSpPr/>
          <p:nvPr/>
        </p:nvSpPr>
        <p:spPr>
          <a:xfrm>
            <a:off x="411480" y="3739896"/>
            <a:ext cx="201168" cy="201168"/>
          </a:xfrm>
          <a:prstGeom prst="ellipse">
            <a:avLst/>
          </a:prstGeom>
          <a:solidFill>
            <a:srgbClr val="148F77"/>
          </a:solidFill>
          <a:ln w="12700">
            <a:solidFill>
              <a:srgbClr val="148F77"/>
            </a:solidFill>
            <a:prstDash val="solid"/>
          </a:ln>
        </p:spPr>
        <p:txBody>
          <a:bodyPr/>
          <a:lstStyle/>
          <a:p>
            <a:endParaRPr lang="ko-KR" altLang="en-US"/>
          </a:p>
        </p:txBody>
      </p:sp>
      <p:sp>
        <p:nvSpPr>
          <p:cNvPr id="17" name="Text 15"/>
          <p:cNvSpPr/>
          <p:nvPr/>
        </p:nvSpPr>
        <p:spPr>
          <a:xfrm>
            <a:off x="685800" y="3721608"/>
            <a:ext cx="2651760" cy="228600"/>
          </a:xfrm>
          <a:prstGeom prst="rect">
            <a:avLst/>
          </a:prstGeom>
          <a:noFill/>
          <a:ln/>
        </p:spPr>
        <p:txBody>
          <a:bodyPr wrap="square" lIns="0" tIns="0" rIns="0" bIns="0" rtlCol="0" anchor="ctr"/>
          <a:lstStyle/>
          <a:p>
            <a:pPr marL="0" indent="0">
              <a:buNone/>
            </a:pPr>
            <a:r>
              <a:rPr lang="en-US" sz="1100" b="1" dirty="0">
                <a:solidFill>
                  <a:srgbClr val="0D2B55"/>
                </a:solidFill>
                <a:latin typeface="Arial" pitchFamily="34" charset="0"/>
                <a:ea typeface="Arial" pitchFamily="34" charset="-122"/>
                <a:cs typeface="Arial" pitchFamily="34" charset="-120"/>
              </a:rPr>
              <a:t>범주형·연속형 구분</a:t>
            </a:r>
            <a:endParaRPr lang="en-US" sz="1100" dirty="0"/>
          </a:p>
        </p:txBody>
      </p:sp>
      <p:sp>
        <p:nvSpPr>
          <p:cNvPr id="18" name="Text 16"/>
          <p:cNvSpPr/>
          <p:nvPr/>
        </p:nvSpPr>
        <p:spPr>
          <a:xfrm>
            <a:off x="685800" y="3959352"/>
            <a:ext cx="2651760" cy="411480"/>
          </a:xfrm>
          <a:prstGeom prst="rect">
            <a:avLst/>
          </a:prstGeom>
          <a:noFill/>
          <a:ln/>
        </p:spPr>
        <p:txBody>
          <a:bodyPr wrap="square" lIns="0" tIns="0" rIns="0" bIns="0" rtlCol="0" anchor="ctr"/>
          <a:lstStyle/>
          <a:p>
            <a:pPr marL="0" indent="0">
              <a:buNone/>
            </a:pPr>
            <a:r>
              <a:rPr lang="en-US" sz="950" dirty="0">
                <a:solidFill>
                  <a:srgbClr val="2C3E50"/>
                </a:solidFill>
                <a:latin typeface="Arial" pitchFamily="34" charset="0"/>
                <a:ea typeface="Arial" pitchFamily="34" charset="-122"/>
                <a:cs typeface="Arial" pitchFamily="34" charset="-120"/>
              </a:rPr>
              <a:t>막대 그래프 vs 박스플롯으로 변수 유형별 시각화</a:t>
            </a:r>
            <a:endParaRPr lang="en-US" sz="950" dirty="0"/>
          </a:p>
        </p:txBody>
      </p:sp>
      <p:pic>
        <p:nvPicPr>
          <p:cNvPr id="19" name="Image 0" descr="preencoded.png"/>
          <p:cNvPicPr>
            <a:picLocks noChangeAspect="1"/>
          </p:cNvPicPr>
          <p:nvPr/>
        </p:nvPicPr>
        <p:blipFill>
          <a:blip r:embed="rId3"/>
          <a:stretch>
            <a:fillRect/>
          </a:stretch>
        </p:blipFill>
        <p:spPr>
          <a:xfrm>
            <a:off x="3657600" y="868680"/>
            <a:ext cx="5212080" cy="40233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5"/>
          </a:solidFill>
          <a:ln w="12700">
            <a:solidFill>
              <a:srgbClr val="0D2B55"/>
            </a:solidFill>
            <a:prstDash val="solid"/>
          </a:ln>
        </p:spPr>
        <p:txBody>
          <a:bodyPr/>
          <a:lstStyle/>
          <a:p>
            <a:endParaRPr lang="ko-KR" alt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머신러닝 모델 구축 및 평가</a:t>
            </a:r>
            <a:endParaRPr lang="en-US" sz="2600" dirty="0"/>
          </a:p>
        </p:txBody>
      </p:sp>
      <p:sp>
        <p:nvSpPr>
          <p:cNvPr id="4" name="Text 2"/>
          <p:cNvSpPr/>
          <p:nvPr/>
        </p:nvSpPr>
        <p:spPr>
          <a:xfrm>
            <a:off x="8046720" y="0"/>
            <a:ext cx="640080" cy="777240"/>
          </a:xfrm>
          <a:prstGeom prst="rect">
            <a:avLst/>
          </a:prstGeom>
          <a:noFill/>
          <a:ln/>
        </p:spPr>
        <p:txBody>
          <a:bodyPr wrap="square" lIns="0" tIns="0" rIns="0" bIns="0" rtlCol="0" anchor="ctr"/>
          <a:lstStyle/>
          <a:p>
            <a:pPr marL="0" indent="0" algn="r">
              <a:buNone/>
            </a:pPr>
            <a:r>
              <a:rPr lang="en-US" sz="2000" b="1" dirty="0">
                <a:solidFill>
                  <a:srgbClr val="F39C12"/>
                </a:solidFill>
                <a:latin typeface="Arial" pitchFamily="34" charset="0"/>
                <a:ea typeface="Arial" pitchFamily="34" charset="-122"/>
                <a:cs typeface="Arial" pitchFamily="34" charset="-120"/>
              </a:rPr>
              <a:t>04</a:t>
            </a:r>
            <a:endParaRPr lang="en-US" sz="2000" dirty="0"/>
          </a:p>
        </p:txBody>
      </p:sp>
      <p:sp>
        <p:nvSpPr>
          <p:cNvPr id="5" name="Shape 3"/>
          <p:cNvSpPr/>
          <p:nvPr/>
        </p:nvSpPr>
        <p:spPr>
          <a:xfrm>
            <a:off x="365760" y="914400"/>
            <a:ext cx="1874520" cy="822960"/>
          </a:xfrm>
          <a:prstGeom prst="roundRect">
            <a:avLst>
              <a:gd name="adj" fmla="val 11111"/>
            </a:avLst>
          </a:prstGeom>
          <a:solidFill>
            <a:srgbClr val="148F77"/>
          </a:solidFill>
          <a:ln w="12700">
            <a:solidFill>
              <a:srgbClr val="148F77"/>
            </a:solidFill>
            <a:prstDash val="solid"/>
          </a:ln>
        </p:spPr>
        <p:txBody>
          <a:bodyPr/>
          <a:lstStyle/>
          <a:p>
            <a:endParaRPr lang="ko-KR" altLang="en-US"/>
          </a:p>
        </p:txBody>
      </p:sp>
      <p:sp>
        <p:nvSpPr>
          <p:cNvPr id="6" name="Text 4"/>
          <p:cNvSpPr/>
          <p:nvPr/>
        </p:nvSpPr>
        <p:spPr>
          <a:xfrm>
            <a:off x="365760" y="914400"/>
            <a:ext cx="18745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StandardScaler</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정규화</a:t>
            </a:r>
            <a:endParaRPr lang="en-US" sz="1100" dirty="0"/>
          </a:p>
        </p:txBody>
      </p:sp>
      <p:sp>
        <p:nvSpPr>
          <p:cNvPr id="7" name="Shape 5"/>
          <p:cNvSpPr/>
          <p:nvPr/>
        </p:nvSpPr>
        <p:spPr>
          <a:xfrm>
            <a:off x="2240280" y="1325880"/>
            <a:ext cx="274320" cy="0"/>
          </a:xfrm>
          <a:prstGeom prst="line">
            <a:avLst/>
          </a:prstGeom>
          <a:noFill/>
          <a:ln w="25400">
            <a:solidFill>
              <a:srgbClr val="85929E"/>
            </a:solidFill>
            <a:prstDash val="solid"/>
          </a:ln>
        </p:spPr>
        <p:txBody>
          <a:bodyPr/>
          <a:lstStyle/>
          <a:p>
            <a:endParaRPr lang="ko-KR" altLang="en-US"/>
          </a:p>
        </p:txBody>
      </p:sp>
      <p:sp>
        <p:nvSpPr>
          <p:cNvPr id="8" name="Shape 6"/>
          <p:cNvSpPr/>
          <p:nvPr/>
        </p:nvSpPr>
        <p:spPr>
          <a:xfrm>
            <a:off x="2514600" y="914400"/>
            <a:ext cx="1874520" cy="822960"/>
          </a:xfrm>
          <a:prstGeom prst="roundRect">
            <a:avLst>
              <a:gd name="adj" fmla="val 11111"/>
            </a:avLst>
          </a:prstGeom>
          <a:solidFill>
            <a:srgbClr val="1A5276"/>
          </a:solidFill>
          <a:ln w="12700">
            <a:solidFill>
              <a:srgbClr val="1A5276"/>
            </a:solidFill>
            <a:prstDash val="solid"/>
          </a:ln>
        </p:spPr>
        <p:txBody>
          <a:bodyPr/>
          <a:lstStyle/>
          <a:p>
            <a:endParaRPr lang="ko-KR" altLang="en-US"/>
          </a:p>
        </p:txBody>
      </p:sp>
      <p:sp>
        <p:nvSpPr>
          <p:cNvPr id="9" name="Text 7"/>
          <p:cNvSpPr/>
          <p:nvPr/>
        </p:nvSpPr>
        <p:spPr>
          <a:xfrm>
            <a:off x="2514600" y="914400"/>
            <a:ext cx="18745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8:2</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데이터 분할</a:t>
            </a:r>
            <a:endParaRPr lang="en-US" sz="1100" dirty="0"/>
          </a:p>
        </p:txBody>
      </p:sp>
      <p:sp>
        <p:nvSpPr>
          <p:cNvPr id="10" name="Shape 8"/>
          <p:cNvSpPr/>
          <p:nvPr/>
        </p:nvSpPr>
        <p:spPr>
          <a:xfrm>
            <a:off x="4389120" y="1325880"/>
            <a:ext cx="274320" cy="0"/>
          </a:xfrm>
          <a:prstGeom prst="line">
            <a:avLst/>
          </a:prstGeom>
          <a:noFill/>
          <a:ln w="25400">
            <a:solidFill>
              <a:srgbClr val="85929E"/>
            </a:solidFill>
            <a:prstDash val="solid"/>
          </a:ln>
        </p:spPr>
        <p:txBody>
          <a:bodyPr/>
          <a:lstStyle/>
          <a:p>
            <a:endParaRPr lang="ko-KR" altLang="en-US"/>
          </a:p>
        </p:txBody>
      </p:sp>
      <p:sp>
        <p:nvSpPr>
          <p:cNvPr id="11" name="Shape 9"/>
          <p:cNvSpPr/>
          <p:nvPr/>
        </p:nvSpPr>
        <p:spPr>
          <a:xfrm>
            <a:off x="4663440" y="914400"/>
            <a:ext cx="1874520" cy="822960"/>
          </a:xfrm>
          <a:prstGeom prst="roundRect">
            <a:avLst>
              <a:gd name="adj" fmla="val 11111"/>
            </a:avLst>
          </a:prstGeom>
          <a:solidFill>
            <a:srgbClr val="0D2B55"/>
          </a:solidFill>
          <a:ln w="12700">
            <a:solidFill>
              <a:srgbClr val="0D2B55"/>
            </a:solidFill>
            <a:prstDash val="solid"/>
          </a:ln>
        </p:spPr>
        <p:txBody>
          <a:bodyPr/>
          <a:lstStyle/>
          <a:p>
            <a:endParaRPr lang="ko-KR" altLang="en-US"/>
          </a:p>
        </p:txBody>
      </p:sp>
      <p:sp>
        <p:nvSpPr>
          <p:cNvPr id="12" name="Text 10"/>
          <p:cNvSpPr/>
          <p:nvPr/>
        </p:nvSpPr>
        <p:spPr>
          <a:xfrm>
            <a:off x="4663440" y="914400"/>
            <a:ext cx="18745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3가지 모델</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학습</a:t>
            </a:r>
            <a:endParaRPr lang="en-US" sz="1100" dirty="0"/>
          </a:p>
        </p:txBody>
      </p:sp>
      <p:sp>
        <p:nvSpPr>
          <p:cNvPr id="13" name="Shape 11"/>
          <p:cNvSpPr/>
          <p:nvPr/>
        </p:nvSpPr>
        <p:spPr>
          <a:xfrm>
            <a:off x="6537960" y="1325880"/>
            <a:ext cx="274320" cy="0"/>
          </a:xfrm>
          <a:prstGeom prst="line">
            <a:avLst/>
          </a:prstGeom>
          <a:noFill/>
          <a:ln w="25400">
            <a:solidFill>
              <a:srgbClr val="85929E"/>
            </a:solidFill>
            <a:prstDash val="solid"/>
          </a:ln>
        </p:spPr>
        <p:txBody>
          <a:bodyPr/>
          <a:lstStyle/>
          <a:p>
            <a:endParaRPr lang="ko-KR" altLang="en-US"/>
          </a:p>
        </p:txBody>
      </p:sp>
      <p:sp>
        <p:nvSpPr>
          <p:cNvPr id="14" name="Shape 12"/>
          <p:cNvSpPr/>
          <p:nvPr/>
        </p:nvSpPr>
        <p:spPr>
          <a:xfrm>
            <a:off x="6812280" y="914400"/>
            <a:ext cx="1874520" cy="822960"/>
          </a:xfrm>
          <a:prstGeom prst="roundRect">
            <a:avLst>
              <a:gd name="adj" fmla="val 11111"/>
            </a:avLst>
          </a:prstGeom>
          <a:solidFill>
            <a:srgbClr val="F39C12"/>
          </a:solidFill>
          <a:ln w="12700">
            <a:solidFill>
              <a:srgbClr val="F39C12"/>
            </a:solidFill>
            <a:prstDash val="solid"/>
          </a:ln>
        </p:spPr>
        <p:txBody>
          <a:bodyPr/>
          <a:lstStyle/>
          <a:p>
            <a:endParaRPr lang="ko-KR" altLang="en-US"/>
          </a:p>
        </p:txBody>
      </p:sp>
      <p:sp>
        <p:nvSpPr>
          <p:cNvPr id="15" name="Text 13"/>
          <p:cNvSpPr/>
          <p:nvPr/>
        </p:nvSpPr>
        <p:spPr>
          <a:xfrm>
            <a:off x="6812280" y="914400"/>
            <a:ext cx="18745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성능 평가</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&amp; 비교</a:t>
            </a:r>
            <a:endParaRPr lang="en-US" sz="1100" dirty="0"/>
          </a:p>
        </p:txBody>
      </p:sp>
      <p:sp>
        <p:nvSpPr>
          <p:cNvPr id="16" name="Shape 14"/>
          <p:cNvSpPr/>
          <p:nvPr/>
        </p:nvSpPr>
        <p:spPr>
          <a:xfrm>
            <a:off x="365760" y="1874520"/>
            <a:ext cx="1645920" cy="384048"/>
          </a:xfrm>
          <a:prstGeom prst="rect">
            <a:avLst/>
          </a:prstGeom>
          <a:solidFill>
            <a:srgbClr val="0D2B55"/>
          </a:solidFill>
          <a:ln w="12700">
            <a:solidFill>
              <a:srgbClr val="0D2B55"/>
            </a:solidFill>
            <a:prstDash val="solid"/>
          </a:ln>
        </p:spPr>
        <p:txBody>
          <a:bodyPr/>
          <a:lstStyle/>
          <a:p>
            <a:endParaRPr lang="ko-KR" altLang="en-US"/>
          </a:p>
        </p:txBody>
      </p:sp>
      <p:sp>
        <p:nvSpPr>
          <p:cNvPr id="17" name="Text 15"/>
          <p:cNvSpPr/>
          <p:nvPr/>
        </p:nvSpPr>
        <p:spPr>
          <a:xfrm>
            <a:off x="365760" y="1874520"/>
            <a:ext cx="16459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모델</a:t>
            </a:r>
            <a:endParaRPr lang="en-US" sz="1100" dirty="0"/>
          </a:p>
        </p:txBody>
      </p:sp>
      <p:sp>
        <p:nvSpPr>
          <p:cNvPr id="18" name="Shape 16"/>
          <p:cNvSpPr/>
          <p:nvPr/>
        </p:nvSpPr>
        <p:spPr>
          <a:xfrm>
            <a:off x="2011680" y="1874520"/>
            <a:ext cx="1554480" cy="384048"/>
          </a:xfrm>
          <a:prstGeom prst="rect">
            <a:avLst/>
          </a:prstGeom>
          <a:solidFill>
            <a:srgbClr val="0D2B55"/>
          </a:solidFill>
          <a:ln w="12700">
            <a:solidFill>
              <a:srgbClr val="0D2B55"/>
            </a:solidFill>
            <a:prstDash val="solid"/>
          </a:ln>
        </p:spPr>
        <p:txBody>
          <a:bodyPr/>
          <a:lstStyle/>
          <a:p>
            <a:endParaRPr lang="ko-KR" altLang="en-US"/>
          </a:p>
        </p:txBody>
      </p:sp>
      <p:sp>
        <p:nvSpPr>
          <p:cNvPr id="19" name="Text 17"/>
          <p:cNvSpPr/>
          <p:nvPr/>
        </p:nvSpPr>
        <p:spPr>
          <a:xfrm>
            <a:off x="2011680" y="1874520"/>
            <a:ext cx="15544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Accuracy</a:t>
            </a:r>
            <a:endParaRPr lang="en-US" sz="1100" dirty="0"/>
          </a:p>
        </p:txBody>
      </p:sp>
      <p:sp>
        <p:nvSpPr>
          <p:cNvPr id="20" name="Shape 18"/>
          <p:cNvSpPr/>
          <p:nvPr/>
        </p:nvSpPr>
        <p:spPr>
          <a:xfrm>
            <a:off x="3566160" y="1874520"/>
            <a:ext cx="1554480" cy="384048"/>
          </a:xfrm>
          <a:prstGeom prst="rect">
            <a:avLst/>
          </a:prstGeom>
          <a:solidFill>
            <a:srgbClr val="0D2B55"/>
          </a:solidFill>
          <a:ln w="12700">
            <a:solidFill>
              <a:srgbClr val="0D2B55"/>
            </a:solidFill>
            <a:prstDash val="solid"/>
          </a:ln>
        </p:spPr>
        <p:txBody>
          <a:bodyPr/>
          <a:lstStyle/>
          <a:p>
            <a:endParaRPr lang="ko-KR" altLang="en-US"/>
          </a:p>
        </p:txBody>
      </p:sp>
      <p:sp>
        <p:nvSpPr>
          <p:cNvPr id="21" name="Text 19"/>
          <p:cNvSpPr/>
          <p:nvPr/>
        </p:nvSpPr>
        <p:spPr>
          <a:xfrm>
            <a:off x="3566160" y="1874520"/>
            <a:ext cx="15544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Precision</a:t>
            </a:r>
            <a:endParaRPr lang="en-US" sz="1100" dirty="0"/>
          </a:p>
        </p:txBody>
      </p:sp>
      <p:sp>
        <p:nvSpPr>
          <p:cNvPr id="22" name="Shape 20"/>
          <p:cNvSpPr/>
          <p:nvPr/>
        </p:nvSpPr>
        <p:spPr>
          <a:xfrm>
            <a:off x="5120640" y="1874520"/>
            <a:ext cx="1371600" cy="384048"/>
          </a:xfrm>
          <a:prstGeom prst="rect">
            <a:avLst/>
          </a:prstGeom>
          <a:solidFill>
            <a:srgbClr val="0D2B55"/>
          </a:solidFill>
          <a:ln w="12700">
            <a:solidFill>
              <a:srgbClr val="0D2B55"/>
            </a:solidFill>
            <a:prstDash val="solid"/>
          </a:ln>
        </p:spPr>
        <p:txBody>
          <a:bodyPr/>
          <a:lstStyle/>
          <a:p>
            <a:endParaRPr lang="ko-KR" altLang="en-US"/>
          </a:p>
        </p:txBody>
      </p:sp>
      <p:sp>
        <p:nvSpPr>
          <p:cNvPr id="23" name="Text 21"/>
          <p:cNvSpPr/>
          <p:nvPr/>
        </p:nvSpPr>
        <p:spPr>
          <a:xfrm>
            <a:off x="5120640" y="1874520"/>
            <a:ext cx="13716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Recall</a:t>
            </a:r>
            <a:endParaRPr lang="en-US" sz="1100" dirty="0"/>
          </a:p>
        </p:txBody>
      </p:sp>
      <p:sp>
        <p:nvSpPr>
          <p:cNvPr id="24" name="Shape 22"/>
          <p:cNvSpPr/>
          <p:nvPr/>
        </p:nvSpPr>
        <p:spPr>
          <a:xfrm>
            <a:off x="6492240" y="1874520"/>
            <a:ext cx="1371600" cy="384048"/>
          </a:xfrm>
          <a:prstGeom prst="rect">
            <a:avLst/>
          </a:prstGeom>
          <a:solidFill>
            <a:srgbClr val="0D2B55"/>
          </a:solidFill>
          <a:ln w="12700">
            <a:solidFill>
              <a:srgbClr val="0D2B55"/>
            </a:solidFill>
            <a:prstDash val="solid"/>
          </a:ln>
        </p:spPr>
        <p:txBody>
          <a:bodyPr/>
          <a:lstStyle/>
          <a:p>
            <a:endParaRPr lang="ko-KR" altLang="en-US"/>
          </a:p>
        </p:txBody>
      </p:sp>
      <p:sp>
        <p:nvSpPr>
          <p:cNvPr id="25" name="Text 23"/>
          <p:cNvSpPr/>
          <p:nvPr/>
        </p:nvSpPr>
        <p:spPr>
          <a:xfrm>
            <a:off x="6492240" y="1874520"/>
            <a:ext cx="13716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F1-score</a:t>
            </a:r>
            <a:endParaRPr lang="en-US" sz="1100" dirty="0"/>
          </a:p>
        </p:txBody>
      </p:sp>
      <p:sp>
        <p:nvSpPr>
          <p:cNvPr id="26" name="Shape 24"/>
          <p:cNvSpPr/>
          <p:nvPr/>
        </p:nvSpPr>
        <p:spPr>
          <a:xfrm>
            <a:off x="365760" y="2258568"/>
            <a:ext cx="1645920" cy="384048"/>
          </a:xfrm>
          <a:prstGeom prst="rect">
            <a:avLst/>
          </a:prstGeom>
          <a:solidFill>
            <a:srgbClr val="FFFFFF"/>
          </a:solidFill>
          <a:ln w="12700">
            <a:solidFill>
              <a:srgbClr val="D5D8DC"/>
            </a:solidFill>
            <a:prstDash val="solid"/>
          </a:ln>
        </p:spPr>
        <p:txBody>
          <a:bodyPr/>
          <a:lstStyle/>
          <a:p>
            <a:endParaRPr lang="ko-KR" altLang="en-US"/>
          </a:p>
        </p:txBody>
      </p:sp>
      <p:sp>
        <p:nvSpPr>
          <p:cNvPr id="27" name="Text 25"/>
          <p:cNvSpPr/>
          <p:nvPr/>
        </p:nvSpPr>
        <p:spPr>
          <a:xfrm>
            <a:off x="365760" y="2258568"/>
            <a:ext cx="164592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KNN</a:t>
            </a:r>
            <a:endParaRPr lang="en-US" sz="1100" dirty="0"/>
          </a:p>
        </p:txBody>
      </p:sp>
      <p:sp>
        <p:nvSpPr>
          <p:cNvPr id="28" name="Shape 26"/>
          <p:cNvSpPr/>
          <p:nvPr/>
        </p:nvSpPr>
        <p:spPr>
          <a:xfrm>
            <a:off x="2011680" y="2258568"/>
            <a:ext cx="1554480" cy="384048"/>
          </a:xfrm>
          <a:prstGeom prst="rect">
            <a:avLst/>
          </a:prstGeom>
          <a:solidFill>
            <a:srgbClr val="FFFFFF"/>
          </a:solidFill>
          <a:ln w="12700">
            <a:solidFill>
              <a:srgbClr val="D5D8DC"/>
            </a:solidFill>
            <a:prstDash val="solid"/>
          </a:ln>
        </p:spPr>
        <p:txBody>
          <a:bodyPr/>
          <a:lstStyle/>
          <a:p>
            <a:endParaRPr lang="ko-KR" altLang="en-US"/>
          </a:p>
        </p:txBody>
      </p:sp>
      <p:sp>
        <p:nvSpPr>
          <p:cNvPr id="29" name="Text 27"/>
          <p:cNvSpPr/>
          <p:nvPr/>
        </p:nvSpPr>
        <p:spPr>
          <a:xfrm>
            <a:off x="2011680" y="2258568"/>
            <a:ext cx="155448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0.6833</a:t>
            </a:r>
            <a:endParaRPr lang="en-US" sz="1100" dirty="0"/>
          </a:p>
        </p:txBody>
      </p:sp>
      <p:sp>
        <p:nvSpPr>
          <p:cNvPr id="30" name="Shape 28"/>
          <p:cNvSpPr/>
          <p:nvPr/>
        </p:nvSpPr>
        <p:spPr>
          <a:xfrm>
            <a:off x="3566160" y="2258568"/>
            <a:ext cx="1554480" cy="384048"/>
          </a:xfrm>
          <a:prstGeom prst="rect">
            <a:avLst/>
          </a:prstGeom>
          <a:solidFill>
            <a:srgbClr val="FFFFFF"/>
          </a:solidFill>
          <a:ln w="12700">
            <a:solidFill>
              <a:srgbClr val="D5D8DC"/>
            </a:solidFill>
            <a:prstDash val="solid"/>
          </a:ln>
        </p:spPr>
        <p:txBody>
          <a:bodyPr/>
          <a:lstStyle/>
          <a:p>
            <a:endParaRPr lang="ko-KR" altLang="en-US"/>
          </a:p>
        </p:txBody>
      </p:sp>
      <p:sp>
        <p:nvSpPr>
          <p:cNvPr id="31" name="Text 29"/>
          <p:cNvSpPr/>
          <p:nvPr/>
        </p:nvSpPr>
        <p:spPr>
          <a:xfrm>
            <a:off x="3566160" y="2258568"/>
            <a:ext cx="155448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0.8750</a:t>
            </a:r>
            <a:endParaRPr lang="en-US" sz="1100" dirty="0"/>
          </a:p>
        </p:txBody>
      </p:sp>
      <p:sp>
        <p:nvSpPr>
          <p:cNvPr id="32" name="Shape 30"/>
          <p:cNvSpPr/>
          <p:nvPr/>
        </p:nvSpPr>
        <p:spPr>
          <a:xfrm>
            <a:off x="5120640" y="2258568"/>
            <a:ext cx="1371600" cy="384048"/>
          </a:xfrm>
          <a:prstGeom prst="rect">
            <a:avLst/>
          </a:prstGeom>
          <a:solidFill>
            <a:srgbClr val="FFFFFF"/>
          </a:solidFill>
          <a:ln w="12700">
            <a:solidFill>
              <a:srgbClr val="D5D8DC"/>
            </a:solidFill>
            <a:prstDash val="solid"/>
          </a:ln>
        </p:spPr>
        <p:txBody>
          <a:bodyPr/>
          <a:lstStyle/>
          <a:p>
            <a:endParaRPr lang="ko-KR" altLang="en-US"/>
          </a:p>
        </p:txBody>
      </p:sp>
      <p:sp>
        <p:nvSpPr>
          <p:cNvPr id="33" name="Text 31"/>
          <p:cNvSpPr/>
          <p:nvPr/>
        </p:nvSpPr>
        <p:spPr>
          <a:xfrm>
            <a:off x="5120640" y="2258568"/>
            <a:ext cx="137160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0.28</a:t>
            </a:r>
            <a:endParaRPr lang="en-US" sz="1100" dirty="0"/>
          </a:p>
        </p:txBody>
      </p:sp>
      <p:sp>
        <p:nvSpPr>
          <p:cNvPr id="34" name="Shape 32"/>
          <p:cNvSpPr/>
          <p:nvPr/>
        </p:nvSpPr>
        <p:spPr>
          <a:xfrm>
            <a:off x="6492240" y="2258568"/>
            <a:ext cx="1371600" cy="384048"/>
          </a:xfrm>
          <a:prstGeom prst="rect">
            <a:avLst/>
          </a:prstGeom>
          <a:solidFill>
            <a:srgbClr val="FFFFFF"/>
          </a:solidFill>
          <a:ln w="12700">
            <a:solidFill>
              <a:srgbClr val="D5D8DC"/>
            </a:solidFill>
            <a:prstDash val="solid"/>
          </a:ln>
        </p:spPr>
        <p:txBody>
          <a:bodyPr/>
          <a:lstStyle/>
          <a:p>
            <a:endParaRPr lang="ko-KR" altLang="en-US"/>
          </a:p>
        </p:txBody>
      </p:sp>
      <p:sp>
        <p:nvSpPr>
          <p:cNvPr id="35" name="Text 33"/>
          <p:cNvSpPr/>
          <p:nvPr/>
        </p:nvSpPr>
        <p:spPr>
          <a:xfrm>
            <a:off x="6492240" y="2258568"/>
            <a:ext cx="137160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0.4242</a:t>
            </a:r>
            <a:endParaRPr lang="en-US" sz="1100" dirty="0"/>
          </a:p>
        </p:txBody>
      </p:sp>
      <p:sp>
        <p:nvSpPr>
          <p:cNvPr id="36" name="Shape 34"/>
          <p:cNvSpPr/>
          <p:nvPr/>
        </p:nvSpPr>
        <p:spPr>
          <a:xfrm>
            <a:off x="365760" y="2642616"/>
            <a:ext cx="1645920" cy="384048"/>
          </a:xfrm>
          <a:prstGeom prst="rect">
            <a:avLst/>
          </a:prstGeom>
          <a:solidFill>
            <a:srgbClr val="F2F3F4"/>
          </a:solidFill>
          <a:ln w="12700">
            <a:solidFill>
              <a:srgbClr val="D5D8DC"/>
            </a:solidFill>
            <a:prstDash val="solid"/>
          </a:ln>
        </p:spPr>
        <p:txBody>
          <a:bodyPr/>
          <a:lstStyle/>
          <a:p>
            <a:endParaRPr lang="ko-KR" altLang="en-US"/>
          </a:p>
        </p:txBody>
      </p:sp>
      <p:sp>
        <p:nvSpPr>
          <p:cNvPr id="37" name="Text 35"/>
          <p:cNvSpPr/>
          <p:nvPr/>
        </p:nvSpPr>
        <p:spPr>
          <a:xfrm>
            <a:off x="365760" y="2642616"/>
            <a:ext cx="164592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Decision Tree</a:t>
            </a:r>
            <a:endParaRPr lang="en-US" sz="1100" dirty="0"/>
          </a:p>
        </p:txBody>
      </p:sp>
      <p:sp>
        <p:nvSpPr>
          <p:cNvPr id="38" name="Shape 36"/>
          <p:cNvSpPr/>
          <p:nvPr/>
        </p:nvSpPr>
        <p:spPr>
          <a:xfrm>
            <a:off x="2011680" y="2642616"/>
            <a:ext cx="1554480" cy="384048"/>
          </a:xfrm>
          <a:prstGeom prst="rect">
            <a:avLst/>
          </a:prstGeom>
          <a:solidFill>
            <a:srgbClr val="F2F3F4"/>
          </a:solidFill>
          <a:ln w="12700">
            <a:solidFill>
              <a:srgbClr val="D5D8DC"/>
            </a:solidFill>
            <a:prstDash val="solid"/>
          </a:ln>
        </p:spPr>
        <p:txBody>
          <a:bodyPr/>
          <a:lstStyle/>
          <a:p>
            <a:endParaRPr lang="ko-KR" altLang="en-US"/>
          </a:p>
        </p:txBody>
      </p:sp>
      <p:sp>
        <p:nvSpPr>
          <p:cNvPr id="39" name="Text 37"/>
          <p:cNvSpPr/>
          <p:nvPr/>
        </p:nvSpPr>
        <p:spPr>
          <a:xfrm>
            <a:off x="2011680" y="2642616"/>
            <a:ext cx="155448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0.6333</a:t>
            </a:r>
            <a:endParaRPr lang="en-US" sz="1100" dirty="0"/>
          </a:p>
        </p:txBody>
      </p:sp>
      <p:sp>
        <p:nvSpPr>
          <p:cNvPr id="40" name="Shape 38"/>
          <p:cNvSpPr/>
          <p:nvPr/>
        </p:nvSpPr>
        <p:spPr>
          <a:xfrm>
            <a:off x="3566160" y="2642616"/>
            <a:ext cx="1554480" cy="384048"/>
          </a:xfrm>
          <a:prstGeom prst="rect">
            <a:avLst/>
          </a:prstGeom>
          <a:solidFill>
            <a:srgbClr val="F2F3F4"/>
          </a:solidFill>
          <a:ln w="12700">
            <a:solidFill>
              <a:srgbClr val="D5D8DC"/>
            </a:solidFill>
            <a:prstDash val="solid"/>
          </a:ln>
        </p:spPr>
        <p:txBody>
          <a:bodyPr/>
          <a:lstStyle/>
          <a:p>
            <a:endParaRPr lang="ko-KR" altLang="en-US"/>
          </a:p>
        </p:txBody>
      </p:sp>
      <p:sp>
        <p:nvSpPr>
          <p:cNvPr id="41" name="Text 39"/>
          <p:cNvSpPr/>
          <p:nvPr/>
        </p:nvSpPr>
        <p:spPr>
          <a:xfrm>
            <a:off x="3566160" y="2642616"/>
            <a:ext cx="155448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0.5789</a:t>
            </a:r>
            <a:endParaRPr lang="en-US" sz="1100" dirty="0"/>
          </a:p>
        </p:txBody>
      </p:sp>
      <p:sp>
        <p:nvSpPr>
          <p:cNvPr id="42" name="Shape 40"/>
          <p:cNvSpPr/>
          <p:nvPr/>
        </p:nvSpPr>
        <p:spPr>
          <a:xfrm>
            <a:off x="5120640" y="2642616"/>
            <a:ext cx="1371600" cy="384048"/>
          </a:xfrm>
          <a:prstGeom prst="rect">
            <a:avLst/>
          </a:prstGeom>
          <a:solidFill>
            <a:srgbClr val="F2F3F4"/>
          </a:solidFill>
          <a:ln w="12700">
            <a:solidFill>
              <a:srgbClr val="D5D8DC"/>
            </a:solidFill>
            <a:prstDash val="solid"/>
          </a:ln>
        </p:spPr>
        <p:txBody>
          <a:bodyPr/>
          <a:lstStyle/>
          <a:p>
            <a:endParaRPr lang="ko-KR" altLang="en-US"/>
          </a:p>
        </p:txBody>
      </p:sp>
      <p:sp>
        <p:nvSpPr>
          <p:cNvPr id="43" name="Text 41"/>
          <p:cNvSpPr/>
          <p:nvPr/>
        </p:nvSpPr>
        <p:spPr>
          <a:xfrm>
            <a:off x="5120640" y="2642616"/>
            <a:ext cx="137160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0.44</a:t>
            </a:r>
            <a:endParaRPr lang="en-US" sz="1100" dirty="0"/>
          </a:p>
        </p:txBody>
      </p:sp>
      <p:sp>
        <p:nvSpPr>
          <p:cNvPr id="44" name="Shape 42"/>
          <p:cNvSpPr/>
          <p:nvPr/>
        </p:nvSpPr>
        <p:spPr>
          <a:xfrm>
            <a:off x="6492240" y="2642616"/>
            <a:ext cx="1371600" cy="384048"/>
          </a:xfrm>
          <a:prstGeom prst="rect">
            <a:avLst/>
          </a:prstGeom>
          <a:solidFill>
            <a:srgbClr val="F2F3F4"/>
          </a:solidFill>
          <a:ln w="12700">
            <a:solidFill>
              <a:srgbClr val="D5D8DC"/>
            </a:solidFill>
            <a:prstDash val="solid"/>
          </a:ln>
        </p:spPr>
        <p:txBody>
          <a:bodyPr/>
          <a:lstStyle/>
          <a:p>
            <a:endParaRPr lang="ko-KR" altLang="en-US"/>
          </a:p>
        </p:txBody>
      </p:sp>
      <p:sp>
        <p:nvSpPr>
          <p:cNvPr id="45" name="Text 43"/>
          <p:cNvSpPr/>
          <p:nvPr/>
        </p:nvSpPr>
        <p:spPr>
          <a:xfrm>
            <a:off x="6492240" y="2642616"/>
            <a:ext cx="1371600" cy="384048"/>
          </a:xfrm>
          <a:prstGeom prst="rect">
            <a:avLst/>
          </a:prstGeom>
          <a:noFill/>
          <a:ln/>
        </p:spPr>
        <p:txBody>
          <a:bodyPr wrap="square" lIns="0" tIns="0" rIns="0" bIns="0" rtlCol="0" anchor="ctr"/>
          <a:lstStyle/>
          <a:p>
            <a:pPr marL="0" indent="0" algn="ctr">
              <a:buNone/>
            </a:pPr>
            <a:r>
              <a:rPr lang="en-US" sz="1100" dirty="0">
                <a:solidFill>
                  <a:srgbClr val="2C3E50"/>
                </a:solidFill>
                <a:latin typeface="Arial" pitchFamily="34" charset="0"/>
                <a:ea typeface="Arial" pitchFamily="34" charset="-122"/>
                <a:cs typeface="Arial" pitchFamily="34" charset="-120"/>
              </a:rPr>
              <a:t>0.5000</a:t>
            </a:r>
            <a:endParaRPr lang="en-US" sz="1100" dirty="0"/>
          </a:p>
        </p:txBody>
      </p:sp>
      <p:sp>
        <p:nvSpPr>
          <p:cNvPr id="46" name="Shape 44"/>
          <p:cNvSpPr/>
          <p:nvPr/>
        </p:nvSpPr>
        <p:spPr>
          <a:xfrm>
            <a:off x="365760" y="3026664"/>
            <a:ext cx="1645920" cy="384048"/>
          </a:xfrm>
          <a:prstGeom prst="rect">
            <a:avLst/>
          </a:prstGeom>
          <a:solidFill>
            <a:srgbClr val="EAF4EC"/>
          </a:solidFill>
          <a:ln w="12700">
            <a:solidFill>
              <a:srgbClr val="D5D8DC"/>
            </a:solidFill>
            <a:prstDash val="solid"/>
          </a:ln>
        </p:spPr>
        <p:txBody>
          <a:bodyPr/>
          <a:lstStyle/>
          <a:p>
            <a:endParaRPr lang="ko-KR" altLang="en-US"/>
          </a:p>
        </p:txBody>
      </p:sp>
      <p:sp>
        <p:nvSpPr>
          <p:cNvPr id="47" name="Text 45"/>
          <p:cNvSpPr/>
          <p:nvPr/>
        </p:nvSpPr>
        <p:spPr>
          <a:xfrm>
            <a:off x="365760" y="3026664"/>
            <a:ext cx="1645920" cy="384048"/>
          </a:xfrm>
          <a:prstGeom prst="rect">
            <a:avLst/>
          </a:prstGeom>
          <a:noFill/>
          <a:ln/>
        </p:spPr>
        <p:txBody>
          <a:bodyPr wrap="square" lIns="0" tIns="0" rIns="0" bIns="0" rtlCol="0" anchor="ctr"/>
          <a:lstStyle/>
          <a:p>
            <a:pPr marL="0" indent="0" algn="ctr">
              <a:buNone/>
            </a:pPr>
            <a:r>
              <a:rPr lang="en-US" sz="1100" b="1" dirty="0">
                <a:solidFill>
                  <a:srgbClr val="1D6A2D"/>
                </a:solidFill>
                <a:latin typeface="Arial" pitchFamily="34" charset="0"/>
                <a:ea typeface="Arial" pitchFamily="34" charset="-122"/>
                <a:cs typeface="Arial" pitchFamily="34" charset="-120"/>
              </a:rPr>
              <a:t>Random Forest</a:t>
            </a:r>
            <a:endParaRPr lang="en-US" sz="1100" dirty="0"/>
          </a:p>
        </p:txBody>
      </p:sp>
      <p:sp>
        <p:nvSpPr>
          <p:cNvPr id="48" name="Shape 46"/>
          <p:cNvSpPr/>
          <p:nvPr/>
        </p:nvSpPr>
        <p:spPr>
          <a:xfrm>
            <a:off x="2011680" y="3026664"/>
            <a:ext cx="1554480" cy="384048"/>
          </a:xfrm>
          <a:prstGeom prst="rect">
            <a:avLst/>
          </a:prstGeom>
          <a:solidFill>
            <a:srgbClr val="EAF4EC"/>
          </a:solidFill>
          <a:ln w="12700">
            <a:solidFill>
              <a:srgbClr val="D5D8DC"/>
            </a:solidFill>
            <a:prstDash val="solid"/>
          </a:ln>
        </p:spPr>
        <p:txBody>
          <a:bodyPr/>
          <a:lstStyle/>
          <a:p>
            <a:endParaRPr lang="ko-KR" altLang="en-US"/>
          </a:p>
        </p:txBody>
      </p:sp>
      <p:sp>
        <p:nvSpPr>
          <p:cNvPr id="49" name="Text 47"/>
          <p:cNvSpPr/>
          <p:nvPr/>
        </p:nvSpPr>
        <p:spPr>
          <a:xfrm>
            <a:off x="2011680" y="3026664"/>
            <a:ext cx="1554480" cy="384048"/>
          </a:xfrm>
          <a:prstGeom prst="rect">
            <a:avLst/>
          </a:prstGeom>
          <a:noFill/>
          <a:ln/>
        </p:spPr>
        <p:txBody>
          <a:bodyPr wrap="square" lIns="0" tIns="0" rIns="0" bIns="0" rtlCol="0" anchor="ctr"/>
          <a:lstStyle/>
          <a:p>
            <a:pPr marL="0" indent="0" algn="ctr">
              <a:buNone/>
            </a:pPr>
            <a:r>
              <a:rPr lang="en-US" sz="1100" b="1" dirty="0">
                <a:solidFill>
                  <a:srgbClr val="1D6A2D"/>
                </a:solidFill>
                <a:latin typeface="Arial" pitchFamily="34" charset="0"/>
                <a:ea typeface="Arial" pitchFamily="34" charset="-122"/>
                <a:cs typeface="Arial" pitchFamily="34" charset="-120"/>
              </a:rPr>
              <a:t>0.7500</a:t>
            </a:r>
            <a:endParaRPr lang="en-US" sz="1100" dirty="0"/>
          </a:p>
        </p:txBody>
      </p:sp>
      <p:sp>
        <p:nvSpPr>
          <p:cNvPr id="50" name="Shape 48"/>
          <p:cNvSpPr/>
          <p:nvPr/>
        </p:nvSpPr>
        <p:spPr>
          <a:xfrm>
            <a:off x="3566160" y="3026664"/>
            <a:ext cx="1554480" cy="384048"/>
          </a:xfrm>
          <a:prstGeom prst="rect">
            <a:avLst/>
          </a:prstGeom>
          <a:solidFill>
            <a:srgbClr val="EAF4EC"/>
          </a:solidFill>
          <a:ln w="12700">
            <a:solidFill>
              <a:srgbClr val="D5D8DC"/>
            </a:solidFill>
            <a:prstDash val="solid"/>
          </a:ln>
        </p:spPr>
        <p:txBody>
          <a:bodyPr/>
          <a:lstStyle/>
          <a:p>
            <a:endParaRPr lang="ko-KR" altLang="en-US"/>
          </a:p>
        </p:txBody>
      </p:sp>
      <p:sp>
        <p:nvSpPr>
          <p:cNvPr id="51" name="Text 49"/>
          <p:cNvSpPr/>
          <p:nvPr/>
        </p:nvSpPr>
        <p:spPr>
          <a:xfrm>
            <a:off x="3566160" y="3026664"/>
            <a:ext cx="1554480" cy="384048"/>
          </a:xfrm>
          <a:prstGeom prst="rect">
            <a:avLst/>
          </a:prstGeom>
          <a:noFill/>
          <a:ln/>
        </p:spPr>
        <p:txBody>
          <a:bodyPr wrap="square" lIns="0" tIns="0" rIns="0" bIns="0" rtlCol="0" anchor="ctr"/>
          <a:lstStyle/>
          <a:p>
            <a:pPr marL="0" indent="0" algn="ctr">
              <a:buNone/>
            </a:pPr>
            <a:r>
              <a:rPr lang="en-US" sz="1100" b="1" dirty="0">
                <a:solidFill>
                  <a:srgbClr val="1D6A2D"/>
                </a:solidFill>
                <a:latin typeface="Arial" pitchFamily="34" charset="0"/>
                <a:ea typeface="Arial" pitchFamily="34" charset="-122"/>
                <a:cs typeface="Arial" pitchFamily="34" charset="-120"/>
              </a:rPr>
              <a:t>0.8571</a:t>
            </a:r>
            <a:endParaRPr lang="en-US" sz="1100" dirty="0"/>
          </a:p>
        </p:txBody>
      </p:sp>
      <p:sp>
        <p:nvSpPr>
          <p:cNvPr id="52" name="Shape 50"/>
          <p:cNvSpPr/>
          <p:nvPr/>
        </p:nvSpPr>
        <p:spPr>
          <a:xfrm>
            <a:off x="5120640" y="3026664"/>
            <a:ext cx="1371600" cy="384048"/>
          </a:xfrm>
          <a:prstGeom prst="rect">
            <a:avLst/>
          </a:prstGeom>
          <a:solidFill>
            <a:srgbClr val="EAF4EC"/>
          </a:solidFill>
          <a:ln w="12700">
            <a:solidFill>
              <a:srgbClr val="D5D8DC"/>
            </a:solidFill>
            <a:prstDash val="solid"/>
          </a:ln>
        </p:spPr>
        <p:txBody>
          <a:bodyPr/>
          <a:lstStyle/>
          <a:p>
            <a:endParaRPr lang="ko-KR" altLang="en-US"/>
          </a:p>
        </p:txBody>
      </p:sp>
      <p:sp>
        <p:nvSpPr>
          <p:cNvPr id="53" name="Text 51"/>
          <p:cNvSpPr/>
          <p:nvPr/>
        </p:nvSpPr>
        <p:spPr>
          <a:xfrm>
            <a:off x="5120640" y="3026664"/>
            <a:ext cx="1371600" cy="384048"/>
          </a:xfrm>
          <a:prstGeom prst="rect">
            <a:avLst/>
          </a:prstGeom>
          <a:noFill/>
          <a:ln/>
        </p:spPr>
        <p:txBody>
          <a:bodyPr wrap="square" lIns="0" tIns="0" rIns="0" bIns="0" rtlCol="0" anchor="ctr"/>
          <a:lstStyle/>
          <a:p>
            <a:pPr marL="0" indent="0" algn="ctr">
              <a:buNone/>
            </a:pPr>
            <a:r>
              <a:rPr lang="en-US" sz="1100" b="1" dirty="0">
                <a:solidFill>
                  <a:srgbClr val="1D6A2D"/>
                </a:solidFill>
                <a:latin typeface="Arial" pitchFamily="34" charset="0"/>
                <a:ea typeface="Arial" pitchFamily="34" charset="-122"/>
                <a:cs typeface="Arial" pitchFamily="34" charset="-120"/>
              </a:rPr>
              <a:t>0.48</a:t>
            </a:r>
            <a:endParaRPr lang="en-US" sz="1100" dirty="0"/>
          </a:p>
        </p:txBody>
      </p:sp>
      <p:sp>
        <p:nvSpPr>
          <p:cNvPr id="54" name="Shape 52"/>
          <p:cNvSpPr/>
          <p:nvPr/>
        </p:nvSpPr>
        <p:spPr>
          <a:xfrm>
            <a:off x="6492240" y="3026664"/>
            <a:ext cx="1371600" cy="384048"/>
          </a:xfrm>
          <a:prstGeom prst="rect">
            <a:avLst/>
          </a:prstGeom>
          <a:solidFill>
            <a:srgbClr val="EAF4EC"/>
          </a:solidFill>
          <a:ln w="12700">
            <a:solidFill>
              <a:srgbClr val="D5D8DC"/>
            </a:solidFill>
            <a:prstDash val="solid"/>
          </a:ln>
        </p:spPr>
        <p:txBody>
          <a:bodyPr/>
          <a:lstStyle/>
          <a:p>
            <a:endParaRPr lang="ko-KR" altLang="en-US"/>
          </a:p>
        </p:txBody>
      </p:sp>
      <p:sp>
        <p:nvSpPr>
          <p:cNvPr id="55" name="Text 53"/>
          <p:cNvSpPr/>
          <p:nvPr/>
        </p:nvSpPr>
        <p:spPr>
          <a:xfrm>
            <a:off x="6492240" y="3026664"/>
            <a:ext cx="1371600" cy="384048"/>
          </a:xfrm>
          <a:prstGeom prst="rect">
            <a:avLst/>
          </a:prstGeom>
          <a:noFill/>
          <a:ln/>
        </p:spPr>
        <p:txBody>
          <a:bodyPr wrap="square" lIns="0" tIns="0" rIns="0" bIns="0" rtlCol="0" anchor="ctr"/>
          <a:lstStyle/>
          <a:p>
            <a:pPr marL="0" indent="0" algn="ctr">
              <a:buNone/>
            </a:pPr>
            <a:r>
              <a:rPr lang="en-US" sz="1100" b="1" dirty="0">
                <a:solidFill>
                  <a:srgbClr val="1D6A2D"/>
                </a:solidFill>
                <a:latin typeface="Arial" pitchFamily="34" charset="0"/>
                <a:ea typeface="Arial" pitchFamily="34" charset="-122"/>
                <a:cs typeface="Arial" pitchFamily="34" charset="-120"/>
              </a:rPr>
              <a:t>0.6154</a:t>
            </a:r>
            <a:endParaRPr lang="en-US" sz="1100" dirty="0"/>
          </a:p>
        </p:txBody>
      </p:sp>
      <p:sp>
        <p:nvSpPr>
          <p:cNvPr id="56" name="Text 54"/>
          <p:cNvSpPr/>
          <p:nvPr/>
        </p:nvSpPr>
        <p:spPr>
          <a:xfrm>
            <a:off x="7955280" y="3026664"/>
            <a:ext cx="1005840" cy="384048"/>
          </a:xfrm>
          <a:prstGeom prst="rect">
            <a:avLst/>
          </a:prstGeom>
          <a:noFill/>
          <a:ln/>
        </p:spPr>
        <p:txBody>
          <a:bodyPr wrap="square" lIns="0" tIns="0" rIns="0" bIns="0" rtlCol="0" anchor="ctr"/>
          <a:lstStyle/>
          <a:p>
            <a:pPr marL="0" indent="0" algn="l">
              <a:buNone/>
            </a:pPr>
            <a:r>
              <a:rPr lang="en-US" sz="1000" b="1" dirty="0">
                <a:solidFill>
                  <a:srgbClr val="F39C12"/>
                </a:solidFill>
                <a:latin typeface="Arial" pitchFamily="34" charset="0"/>
                <a:ea typeface="Arial" pitchFamily="34" charset="-122"/>
                <a:cs typeface="Arial" pitchFamily="34" charset="-120"/>
              </a:rPr>
              <a:t>★ 최종 선정</a:t>
            </a:r>
            <a:endParaRPr lang="en-US" sz="1000" dirty="0"/>
          </a:p>
        </p:txBody>
      </p:sp>
      <p:sp>
        <p:nvSpPr>
          <p:cNvPr id="57" name="Shape 55"/>
          <p:cNvSpPr/>
          <p:nvPr/>
        </p:nvSpPr>
        <p:spPr>
          <a:xfrm>
            <a:off x="365760" y="3520440"/>
            <a:ext cx="8412480" cy="1371600"/>
          </a:xfrm>
          <a:prstGeom prst="roundRect">
            <a:avLst>
              <a:gd name="adj" fmla="val 6667"/>
            </a:avLst>
          </a:prstGeom>
          <a:solidFill>
            <a:srgbClr val="EAF4EC"/>
          </a:solidFill>
          <a:ln w="19050">
            <a:solidFill>
              <a:srgbClr val="27AE60"/>
            </a:solidFill>
            <a:prstDash val="solid"/>
          </a:ln>
        </p:spPr>
        <p:txBody>
          <a:bodyPr/>
          <a:lstStyle/>
          <a:p>
            <a:endParaRPr lang="ko-KR" altLang="en-US"/>
          </a:p>
        </p:txBody>
      </p:sp>
      <p:sp>
        <p:nvSpPr>
          <p:cNvPr id="58" name="Text 56"/>
          <p:cNvSpPr/>
          <p:nvPr/>
        </p:nvSpPr>
        <p:spPr>
          <a:xfrm>
            <a:off x="594360" y="3611880"/>
            <a:ext cx="7955280" cy="347472"/>
          </a:xfrm>
          <a:prstGeom prst="rect">
            <a:avLst/>
          </a:prstGeom>
          <a:noFill/>
          <a:ln/>
        </p:spPr>
        <p:txBody>
          <a:bodyPr wrap="square" lIns="0" tIns="0" rIns="0" bIns="0" rtlCol="0" anchor="ctr"/>
          <a:lstStyle/>
          <a:p>
            <a:pPr marL="0" indent="0">
              <a:buNone/>
            </a:pPr>
            <a:r>
              <a:rPr lang="en-US" sz="1300" b="1" dirty="0">
                <a:solidFill>
                  <a:srgbClr val="1D6A2D"/>
                </a:solidFill>
                <a:latin typeface="Arial" pitchFamily="34" charset="0"/>
                <a:ea typeface="Arial" pitchFamily="34" charset="-122"/>
                <a:cs typeface="Arial" pitchFamily="34" charset="-120"/>
              </a:rPr>
              <a:t>✅  최종 선정 모델: Random Forest</a:t>
            </a:r>
            <a:endParaRPr lang="en-US" sz="1300" dirty="0"/>
          </a:p>
        </p:txBody>
      </p:sp>
      <p:sp>
        <p:nvSpPr>
          <p:cNvPr id="59" name="Text 57"/>
          <p:cNvSpPr/>
          <p:nvPr/>
        </p:nvSpPr>
        <p:spPr>
          <a:xfrm>
            <a:off x="594360" y="4005072"/>
            <a:ext cx="7955280" cy="685800"/>
          </a:xfrm>
          <a:prstGeom prst="rect">
            <a:avLst/>
          </a:prstGeom>
          <a:noFill/>
          <a:ln/>
        </p:spPr>
        <p:txBody>
          <a:bodyPr wrap="square" lIns="0" tIns="0" rIns="0" bIns="0" rtlCol="0" anchor="ctr"/>
          <a:lstStyle/>
          <a:p>
            <a:pPr marL="0" indent="0">
              <a:buNone/>
            </a:pPr>
            <a:r>
              <a:rPr lang="en-US" sz="1100" dirty="0">
                <a:solidFill>
                  <a:srgbClr val="2C3E50"/>
                </a:solidFill>
                <a:latin typeface="Arial" pitchFamily="34" charset="0"/>
                <a:ea typeface="Arial" pitchFamily="34" charset="-122"/>
                <a:cs typeface="Arial" pitchFamily="34" charset="-120"/>
              </a:rPr>
              <a:t>정확도 75% · 정밀도 0.857 · 재현율 0.48 · F1-score 0.615  |  정밀도와 재현율의 균형이 가장 우수하며, 실제 사망 환자(재현율·F1)에서 가장 높은 성능을 기록</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5"/>
          </a:solidFill>
          <a:ln w="12700">
            <a:solidFill>
              <a:srgbClr val="0D2B55"/>
            </a:solidFill>
            <a:prstDash val="solid"/>
          </a:ln>
        </p:spPr>
        <p:txBody>
          <a:bodyPr/>
          <a:lstStyle/>
          <a:p>
            <a:endParaRPr lang="ko-KR" alt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핵심 위험 요인 도출 (Feature Importance)</a:t>
            </a:r>
            <a:endParaRPr lang="en-US" sz="2600" dirty="0"/>
          </a:p>
        </p:txBody>
      </p:sp>
      <p:sp>
        <p:nvSpPr>
          <p:cNvPr id="4" name="Text 2"/>
          <p:cNvSpPr/>
          <p:nvPr/>
        </p:nvSpPr>
        <p:spPr>
          <a:xfrm>
            <a:off x="8046720" y="0"/>
            <a:ext cx="640080" cy="777240"/>
          </a:xfrm>
          <a:prstGeom prst="rect">
            <a:avLst/>
          </a:prstGeom>
          <a:noFill/>
          <a:ln/>
        </p:spPr>
        <p:txBody>
          <a:bodyPr wrap="square" lIns="0" tIns="0" rIns="0" bIns="0" rtlCol="0" anchor="ctr"/>
          <a:lstStyle/>
          <a:p>
            <a:pPr marL="0" indent="0" algn="r">
              <a:buNone/>
            </a:pPr>
            <a:r>
              <a:rPr lang="en-US" sz="2000" b="1" dirty="0">
                <a:solidFill>
                  <a:srgbClr val="F39C12"/>
                </a:solidFill>
                <a:latin typeface="Arial" pitchFamily="34" charset="0"/>
                <a:ea typeface="Arial" pitchFamily="34" charset="-122"/>
                <a:cs typeface="Arial" pitchFamily="34" charset="-120"/>
              </a:rPr>
              <a:t>05</a:t>
            </a:r>
            <a:endParaRPr lang="en-US" sz="2000" dirty="0"/>
          </a:p>
        </p:txBody>
      </p:sp>
      <p:pic>
        <p:nvPicPr>
          <p:cNvPr id="5" name="Image 0" descr="preencoded.png"/>
          <p:cNvPicPr>
            <a:picLocks noChangeAspect="1"/>
          </p:cNvPicPr>
          <p:nvPr/>
        </p:nvPicPr>
        <p:blipFill>
          <a:blip r:embed="rId3"/>
          <a:stretch>
            <a:fillRect/>
          </a:stretch>
        </p:blipFill>
        <p:spPr>
          <a:xfrm>
            <a:off x="274320" y="868680"/>
            <a:ext cx="5303520" cy="4023360"/>
          </a:xfrm>
          <a:prstGeom prst="rect">
            <a:avLst/>
          </a:prstGeom>
        </p:spPr>
      </p:pic>
      <p:sp>
        <p:nvSpPr>
          <p:cNvPr id="6" name="Shape 3"/>
          <p:cNvSpPr/>
          <p:nvPr/>
        </p:nvSpPr>
        <p:spPr>
          <a:xfrm>
            <a:off x="5760720" y="960120"/>
            <a:ext cx="3108960" cy="1097280"/>
          </a:xfrm>
          <a:prstGeom prst="roundRect">
            <a:avLst>
              <a:gd name="adj" fmla="val 8333"/>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7" name="Shape 4"/>
          <p:cNvSpPr/>
          <p:nvPr/>
        </p:nvSpPr>
        <p:spPr>
          <a:xfrm>
            <a:off x="5870448" y="1271016"/>
            <a:ext cx="475488" cy="475488"/>
          </a:xfrm>
          <a:prstGeom prst="ellipse">
            <a:avLst/>
          </a:prstGeom>
          <a:solidFill>
            <a:srgbClr val="0D2B55"/>
          </a:solidFill>
          <a:ln w="12700">
            <a:solidFill>
              <a:srgbClr val="0D2B55"/>
            </a:solidFill>
            <a:prstDash val="solid"/>
          </a:ln>
        </p:spPr>
        <p:txBody>
          <a:bodyPr/>
          <a:lstStyle/>
          <a:p>
            <a:endParaRPr lang="ko-KR" altLang="en-US"/>
          </a:p>
        </p:txBody>
      </p:sp>
      <p:sp>
        <p:nvSpPr>
          <p:cNvPr id="8" name="Text 5"/>
          <p:cNvSpPr/>
          <p:nvPr/>
        </p:nvSpPr>
        <p:spPr>
          <a:xfrm>
            <a:off x="5870448" y="1271016"/>
            <a:ext cx="475488"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1위</a:t>
            </a:r>
            <a:endParaRPr lang="en-US" sz="850" dirty="0"/>
          </a:p>
        </p:txBody>
      </p:sp>
      <p:sp>
        <p:nvSpPr>
          <p:cNvPr id="9" name="Text 6"/>
          <p:cNvSpPr/>
          <p:nvPr/>
        </p:nvSpPr>
        <p:spPr>
          <a:xfrm>
            <a:off x="6446520" y="1014984"/>
            <a:ext cx="2286000" cy="347472"/>
          </a:xfrm>
          <a:prstGeom prst="rect">
            <a:avLst/>
          </a:prstGeom>
          <a:noFill/>
          <a:ln/>
        </p:spPr>
        <p:txBody>
          <a:bodyPr wrap="square" lIns="0" tIns="0" rIns="0" bIns="0" rtlCol="0" anchor="ctr"/>
          <a:lstStyle/>
          <a:p>
            <a:pPr marL="0" indent="0">
              <a:buNone/>
            </a:pPr>
            <a:r>
              <a:rPr lang="en-US" sz="1200" b="1" dirty="0">
                <a:solidFill>
                  <a:srgbClr val="0D2B55"/>
                </a:solidFill>
                <a:latin typeface="Arial" pitchFamily="34" charset="0"/>
                <a:ea typeface="Arial" pitchFamily="34" charset="-122"/>
                <a:cs typeface="Arial" pitchFamily="34" charset="-120"/>
              </a:rPr>
              <a:t>추적 관찰 기간  ~38%</a:t>
            </a:r>
            <a:endParaRPr lang="en-US" sz="1200" dirty="0"/>
          </a:p>
        </p:txBody>
      </p:sp>
      <p:sp>
        <p:nvSpPr>
          <p:cNvPr id="10" name="Text 7"/>
          <p:cNvSpPr/>
          <p:nvPr/>
        </p:nvSpPr>
        <p:spPr>
          <a:xfrm>
            <a:off x="6446520" y="1362456"/>
            <a:ext cx="2286000" cy="228600"/>
          </a:xfrm>
          <a:prstGeom prst="rect">
            <a:avLst/>
          </a:prstGeom>
          <a:noFill/>
          <a:ln/>
        </p:spPr>
        <p:txBody>
          <a:bodyPr wrap="square" lIns="0" tIns="0" rIns="0" bIns="0" rtlCol="0" anchor="ctr"/>
          <a:lstStyle/>
          <a:p>
            <a:pPr marL="0" indent="0">
              <a:buNone/>
            </a:pPr>
            <a:r>
              <a:rPr lang="en-US" sz="900" dirty="0">
                <a:solidFill>
                  <a:srgbClr val="0D2B55"/>
                </a:solidFill>
                <a:latin typeface="Arial" pitchFamily="34" charset="0"/>
                <a:ea typeface="Arial" pitchFamily="34" charset="-122"/>
                <a:cs typeface="Arial" pitchFamily="34" charset="-120"/>
              </a:rPr>
              <a:t>time</a:t>
            </a:r>
            <a:endParaRPr lang="en-US" sz="900" dirty="0"/>
          </a:p>
        </p:txBody>
      </p:sp>
      <p:sp>
        <p:nvSpPr>
          <p:cNvPr id="11" name="Text 8"/>
          <p:cNvSpPr/>
          <p:nvPr/>
        </p:nvSpPr>
        <p:spPr>
          <a:xfrm>
            <a:off x="6446520" y="1581912"/>
            <a:ext cx="2286000" cy="411480"/>
          </a:xfrm>
          <a:prstGeom prst="rect">
            <a:avLst/>
          </a:prstGeom>
          <a:noFill/>
          <a:ln/>
        </p:spPr>
        <p:txBody>
          <a:bodyPr wrap="square" lIns="0" tIns="0" rIns="0" bIns="0" rtlCol="0" anchor="ctr"/>
          <a:lstStyle/>
          <a:p>
            <a:pPr marL="0" indent="0">
              <a:buNone/>
            </a:pPr>
            <a:r>
              <a:rPr lang="en-US" sz="900" dirty="0">
                <a:solidFill>
                  <a:srgbClr val="2C3E50"/>
                </a:solidFill>
                <a:latin typeface="Arial" pitchFamily="34" charset="0"/>
                <a:ea typeface="Arial" pitchFamily="34" charset="-122"/>
                <a:cs typeface="Arial" pitchFamily="34" charset="-120"/>
              </a:rPr>
              <a:t>관찰 기간 100일 미만에서 사망 집중. 가장 강력한 예측 변수.</a:t>
            </a:r>
            <a:endParaRPr lang="en-US" sz="900" dirty="0"/>
          </a:p>
        </p:txBody>
      </p:sp>
      <p:sp>
        <p:nvSpPr>
          <p:cNvPr id="12" name="Shape 9"/>
          <p:cNvSpPr/>
          <p:nvPr/>
        </p:nvSpPr>
        <p:spPr>
          <a:xfrm>
            <a:off x="5760720" y="2221992"/>
            <a:ext cx="3108960" cy="1097280"/>
          </a:xfrm>
          <a:prstGeom prst="roundRect">
            <a:avLst>
              <a:gd name="adj" fmla="val 8333"/>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13" name="Shape 10"/>
          <p:cNvSpPr/>
          <p:nvPr/>
        </p:nvSpPr>
        <p:spPr>
          <a:xfrm>
            <a:off x="5870448" y="2532888"/>
            <a:ext cx="475488" cy="475488"/>
          </a:xfrm>
          <a:prstGeom prst="ellipse">
            <a:avLst/>
          </a:prstGeom>
          <a:solidFill>
            <a:srgbClr val="1A5276"/>
          </a:solidFill>
          <a:ln w="12700">
            <a:solidFill>
              <a:srgbClr val="1A5276"/>
            </a:solidFill>
            <a:prstDash val="solid"/>
          </a:ln>
        </p:spPr>
        <p:txBody>
          <a:bodyPr/>
          <a:lstStyle/>
          <a:p>
            <a:endParaRPr lang="ko-KR" altLang="en-US"/>
          </a:p>
        </p:txBody>
      </p:sp>
      <p:sp>
        <p:nvSpPr>
          <p:cNvPr id="14" name="Text 11"/>
          <p:cNvSpPr/>
          <p:nvPr/>
        </p:nvSpPr>
        <p:spPr>
          <a:xfrm>
            <a:off x="5870448" y="2532888"/>
            <a:ext cx="475488"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2위</a:t>
            </a:r>
            <a:endParaRPr lang="en-US" sz="850" dirty="0"/>
          </a:p>
        </p:txBody>
      </p:sp>
      <p:sp>
        <p:nvSpPr>
          <p:cNvPr id="15" name="Text 12"/>
          <p:cNvSpPr/>
          <p:nvPr/>
        </p:nvSpPr>
        <p:spPr>
          <a:xfrm>
            <a:off x="6446520" y="2276856"/>
            <a:ext cx="2286000" cy="347472"/>
          </a:xfrm>
          <a:prstGeom prst="rect">
            <a:avLst/>
          </a:prstGeom>
          <a:noFill/>
          <a:ln/>
        </p:spPr>
        <p:txBody>
          <a:bodyPr wrap="square" lIns="0" tIns="0" rIns="0" bIns="0" rtlCol="0" anchor="ctr"/>
          <a:lstStyle/>
          <a:p>
            <a:pPr marL="0" indent="0">
              <a:buNone/>
            </a:pPr>
            <a:r>
              <a:rPr lang="en-US" sz="1200" b="1" dirty="0">
                <a:solidFill>
                  <a:srgbClr val="0D2B55"/>
                </a:solidFill>
                <a:latin typeface="Arial" pitchFamily="34" charset="0"/>
                <a:ea typeface="Arial" pitchFamily="34" charset="-122"/>
                <a:cs typeface="Arial" pitchFamily="34" charset="-120"/>
              </a:rPr>
              <a:t>혈청 크레아티닌  ~16%</a:t>
            </a:r>
            <a:endParaRPr lang="en-US" sz="1200" dirty="0"/>
          </a:p>
        </p:txBody>
      </p:sp>
      <p:sp>
        <p:nvSpPr>
          <p:cNvPr id="16" name="Text 13"/>
          <p:cNvSpPr/>
          <p:nvPr/>
        </p:nvSpPr>
        <p:spPr>
          <a:xfrm>
            <a:off x="6446520" y="2624328"/>
            <a:ext cx="2286000" cy="228600"/>
          </a:xfrm>
          <a:prstGeom prst="rect">
            <a:avLst/>
          </a:prstGeom>
          <a:noFill/>
          <a:ln/>
        </p:spPr>
        <p:txBody>
          <a:bodyPr wrap="square" lIns="0" tIns="0" rIns="0" bIns="0" rtlCol="0" anchor="ctr"/>
          <a:lstStyle/>
          <a:p>
            <a:pPr marL="0" indent="0">
              <a:buNone/>
            </a:pPr>
            <a:r>
              <a:rPr lang="en-US" sz="900" dirty="0">
                <a:solidFill>
                  <a:srgbClr val="1A5276"/>
                </a:solidFill>
                <a:latin typeface="Arial" pitchFamily="34" charset="0"/>
                <a:ea typeface="Arial" pitchFamily="34" charset="-122"/>
                <a:cs typeface="Arial" pitchFamily="34" charset="-120"/>
              </a:rPr>
              <a:t>serum_creatinine</a:t>
            </a:r>
            <a:endParaRPr lang="en-US" sz="900" dirty="0"/>
          </a:p>
        </p:txBody>
      </p:sp>
      <p:sp>
        <p:nvSpPr>
          <p:cNvPr id="17" name="Text 14"/>
          <p:cNvSpPr/>
          <p:nvPr/>
        </p:nvSpPr>
        <p:spPr>
          <a:xfrm>
            <a:off x="6446520" y="2843784"/>
            <a:ext cx="2286000" cy="411480"/>
          </a:xfrm>
          <a:prstGeom prst="rect">
            <a:avLst/>
          </a:prstGeom>
          <a:noFill/>
          <a:ln/>
        </p:spPr>
        <p:txBody>
          <a:bodyPr wrap="square" lIns="0" tIns="0" rIns="0" bIns="0" rtlCol="0" anchor="ctr"/>
          <a:lstStyle/>
          <a:p>
            <a:pPr marL="0" indent="0">
              <a:buNone/>
            </a:pPr>
            <a:r>
              <a:rPr lang="en-US" sz="900" dirty="0">
                <a:solidFill>
                  <a:srgbClr val="2C3E50"/>
                </a:solidFill>
                <a:latin typeface="Arial" pitchFamily="34" charset="0"/>
                <a:ea typeface="Arial" pitchFamily="34" charset="-122"/>
                <a:cs typeface="Arial" pitchFamily="34" charset="-120"/>
              </a:rPr>
              <a:t>1.5 mg/dL 초과 시 위험도 급증. 신장 기능 저하를 반영.</a:t>
            </a:r>
            <a:endParaRPr lang="en-US" sz="900" dirty="0"/>
          </a:p>
        </p:txBody>
      </p:sp>
      <p:sp>
        <p:nvSpPr>
          <p:cNvPr id="18" name="Shape 15"/>
          <p:cNvSpPr/>
          <p:nvPr/>
        </p:nvSpPr>
        <p:spPr>
          <a:xfrm>
            <a:off x="5760720" y="3483864"/>
            <a:ext cx="3108960" cy="1097280"/>
          </a:xfrm>
          <a:prstGeom prst="roundRect">
            <a:avLst>
              <a:gd name="adj" fmla="val 8333"/>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19" name="Shape 16"/>
          <p:cNvSpPr/>
          <p:nvPr/>
        </p:nvSpPr>
        <p:spPr>
          <a:xfrm>
            <a:off x="5870448" y="3794760"/>
            <a:ext cx="475488" cy="475488"/>
          </a:xfrm>
          <a:prstGeom prst="ellipse">
            <a:avLst/>
          </a:prstGeom>
          <a:solidFill>
            <a:srgbClr val="148F77"/>
          </a:solidFill>
          <a:ln w="12700">
            <a:solidFill>
              <a:srgbClr val="148F77"/>
            </a:solidFill>
            <a:prstDash val="solid"/>
          </a:ln>
        </p:spPr>
        <p:txBody>
          <a:bodyPr/>
          <a:lstStyle/>
          <a:p>
            <a:endParaRPr lang="ko-KR" altLang="en-US"/>
          </a:p>
        </p:txBody>
      </p:sp>
      <p:sp>
        <p:nvSpPr>
          <p:cNvPr id="20" name="Text 17"/>
          <p:cNvSpPr/>
          <p:nvPr/>
        </p:nvSpPr>
        <p:spPr>
          <a:xfrm>
            <a:off x="5870448" y="3794760"/>
            <a:ext cx="475488"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3위</a:t>
            </a:r>
            <a:endParaRPr lang="en-US" sz="850" dirty="0"/>
          </a:p>
        </p:txBody>
      </p:sp>
      <p:sp>
        <p:nvSpPr>
          <p:cNvPr id="21" name="Text 18"/>
          <p:cNvSpPr/>
          <p:nvPr/>
        </p:nvSpPr>
        <p:spPr>
          <a:xfrm>
            <a:off x="6446520" y="3538728"/>
            <a:ext cx="2286000" cy="347472"/>
          </a:xfrm>
          <a:prstGeom prst="rect">
            <a:avLst/>
          </a:prstGeom>
          <a:noFill/>
          <a:ln/>
        </p:spPr>
        <p:txBody>
          <a:bodyPr wrap="square" lIns="0" tIns="0" rIns="0" bIns="0" rtlCol="0" anchor="ctr"/>
          <a:lstStyle/>
          <a:p>
            <a:pPr marL="0" indent="0">
              <a:buNone/>
            </a:pPr>
            <a:r>
              <a:rPr lang="en-US" sz="1200" b="1" dirty="0">
                <a:solidFill>
                  <a:srgbClr val="0D2B55"/>
                </a:solidFill>
                <a:latin typeface="Arial" pitchFamily="34" charset="0"/>
                <a:ea typeface="Arial" pitchFamily="34" charset="-122"/>
                <a:cs typeface="Arial" pitchFamily="34" charset="-120"/>
              </a:rPr>
              <a:t>심박출률  ~11%</a:t>
            </a:r>
            <a:endParaRPr lang="en-US" sz="1200" dirty="0"/>
          </a:p>
        </p:txBody>
      </p:sp>
      <p:sp>
        <p:nvSpPr>
          <p:cNvPr id="22" name="Text 19"/>
          <p:cNvSpPr/>
          <p:nvPr/>
        </p:nvSpPr>
        <p:spPr>
          <a:xfrm>
            <a:off x="6446520" y="3886200"/>
            <a:ext cx="2286000" cy="228600"/>
          </a:xfrm>
          <a:prstGeom prst="rect">
            <a:avLst/>
          </a:prstGeom>
          <a:noFill/>
          <a:ln/>
        </p:spPr>
        <p:txBody>
          <a:bodyPr wrap="square" lIns="0" tIns="0" rIns="0" bIns="0" rtlCol="0" anchor="ctr"/>
          <a:lstStyle/>
          <a:p>
            <a:pPr marL="0" indent="0">
              <a:buNone/>
            </a:pPr>
            <a:r>
              <a:rPr lang="en-US" sz="900" dirty="0">
                <a:solidFill>
                  <a:srgbClr val="148F77"/>
                </a:solidFill>
                <a:latin typeface="Arial" pitchFamily="34" charset="0"/>
                <a:ea typeface="Arial" pitchFamily="34" charset="-122"/>
                <a:cs typeface="Arial" pitchFamily="34" charset="-120"/>
              </a:rPr>
              <a:t>ejection_fraction</a:t>
            </a:r>
            <a:endParaRPr lang="en-US" sz="900" dirty="0"/>
          </a:p>
        </p:txBody>
      </p:sp>
      <p:sp>
        <p:nvSpPr>
          <p:cNvPr id="23" name="Text 20"/>
          <p:cNvSpPr/>
          <p:nvPr/>
        </p:nvSpPr>
        <p:spPr>
          <a:xfrm>
            <a:off x="6446520" y="4105656"/>
            <a:ext cx="2286000" cy="411480"/>
          </a:xfrm>
          <a:prstGeom prst="rect">
            <a:avLst/>
          </a:prstGeom>
          <a:noFill/>
          <a:ln/>
        </p:spPr>
        <p:txBody>
          <a:bodyPr wrap="square" lIns="0" tIns="0" rIns="0" bIns="0" rtlCol="0" anchor="ctr"/>
          <a:lstStyle/>
          <a:p>
            <a:pPr marL="0" indent="0">
              <a:buNone/>
            </a:pPr>
            <a:r>
              <a:rPr lang="en-US" sz="900" dirty="0">
                <a:solidFill>
                  <a:srgbClr val="2C3E50"/>
                </a:solidFill>
                <a:latin typeface="Arial" pitchFamily="34" charset="0"/>
                <a:ea typeface="Arial" pitchFamily="34" charset="-122"/>
                <a:cs typeface="Arial" pitchFamily="34" charset="-120"/>
              </a:rPr>
              <a:t>낮을수록 심장 펌프 기능 저하. 초기 가설(연령·나트륨)보다 높은 영향력.</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5"/>
          </a:solidFill>
          <a:ln w="12700">
            <a:solidFill>
              <a:srgbClr val="0D2B55"/>
            </a:solidFill>
            <a:prstDash val="solid"/>
          </a:ln>
        </p:spPr>
        <p:txBody>
          <a:bodyPr/>
          <a:lstStyle/>
          <a:p>
            <a:endParaRPr lang="ko-KR" altLang="en-US"/>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TOP 3 요인 복합 분석 — 버블 차트</a:t>
            </a:r>
            <a:endParaRPr lang="en-US" sz="2600" dirty="0"/>
          </a:p>
        </p:txBody>
      </p:sp>
      <p:sp>
        <p:nvSpPr>
          <p:cNvPr id="4" name="Text 2"/>
          <p:cNvSpPr/>
          <p:nvPr/>
        </p:nvSpPr>
        <p:spPr>
          <a:xfrm>
            <a:off x="8046720" y="0"/>
            <a:ext cx="640080" cy="777240"/>
          </a:xfrm>
          <a:prstGeom prst="rect">
            <a:avLst/>
          </a:prstGeom>
          <a:noFill/>
          <a:ln/>
        </p:spPr>
        <p:txBody>
          <a:bodyPr wrap="square" lIns="0" tIns="0" rIns="0" bIns="0" rtlCol="0" anchor="ctr"/>
          <a:lstStyle/>
          <a:p>
            <a:pPr marL="0" indent="0" algn="r">
              <a:buNone/>
            </a:pPr>
            <a:r>
              <a:rPr lang="en-US" sz="2000" b="1" dirty="0">
                <a:solidFill>
                  <a:srgbClr val="F39C12"/>
                </a:solidFill>
                <a:latin typeface="Arial" pitchFamily="34" charset="0"/>
                <a:ea typeface="Arial" pitchFamily="34" charset="-122"/>
                <a:cs typeface="Arial" pitchFamily="34" charset="-120"/>
              </a:rPr>
              <a:t>06</a:t>
            </a:r>
            <a:endParaRPr lang="en-US" sz="2000" dirty="0"/>
          </a:p>
        </p:txBody>
      </p:sp>
      <p:pic>
        <p:nvPicPr>
          <p:cNvPr id="5" name="Image 0" descr="preencoded.png"/>
          <p:cNvPicPr>
            <a:picLocks noChangeAspect="1"/>
          </p:cNvPicPr>
          <p:nvPr/>
        </p:nvPicPr>
        <p:blipFill>
          <a:blip r:embed="rId3"/>
          <a:stretch>
            <a:fillRect/>
          </a:stretch>
        </p:blipFill>
        <p:spPr>
          <a:xfrm>
            <a:off x="228600" y="868680"/>
            <a:ext cx="5943600" cy="4069080"/>
          </a:xfrm>
          <a:prstGeom prst="rect">
            <a:avLst/>
          </a:prstGeom>
        </p:spPr>
      </p:pic>
      <p:sp>
        <p:nvSpPr>
          <p:cNvPr id="6" name="Shape 3"/>
          <p:cNvSpPr/>
          <p:nvPr/>
        </p:nvSpPr>
        <p:spPr>
          <a:xfrm>
            <a:off x="6263640" y="960120"/>
            <a:ext cx="2606040" cy="1143000"/>
          </a:xfrm>
          <a:prstGeom prst="roundRect">
            <a:avLst>
              <a:gd name="adj" fmla="val 8000"/>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7" name="Text 4"/>
          <p:cNvSpPr/>
          <p:nvPr/>
        </p:nvSpPr>
        <p:spPr>
          <a:xfrm>
            <a:off x="6355080" y="1005840"/>
            <a:ext cx="4114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5"/>
          <p:cNvSpPr/>
          <p:nvPr/>
        </p:nvSpPr>
        <p:spPr>
          <a:xfrm>
            <a:off x="6812280" y="1014984"/>
            <a:ext cx="1965960" cy="347472"/>
          </a:xfrm>
          <a:prstGeom prst="rect">
            <a:avLst/>
          </a:prstGeom>
          <a:noFill/>
          <a:ln/>
        </p:spPr>
        <p:txBody>
          <a:bodyPr wrap="square" lIns="0" tIns="0" rIns="0" bIns="0" rtlCol="0" anchor="ctr"/>
          <a:lstStyle/>
          <a:p>
            <a:pPr marL="0" indent="0">
              <a:buNone/>
            </a:pPr>
            <a:r>
              <a:rPr lang="en-US" sz="1200" b="1" dirty="0">
                <a:solidFill>
                  <a:srgbClr val="0D2B55"/>
                </a:solidFill>
                <a:latin typeface="Arial" pitchFamily="34" charset="0"/>
                <a:ea typeface="Arial" pitchFamily="34" charset="-122"/>
                <a:cs typeface="Arial" pitchFamily="34" charset="-120"/>
              </a:rPr>
              <a:t>단기군 집중</a:t>
            </a:r>
            <a:endParaRPr lang="en-US" sz="1200" dirty="0"/>
          </a:p>
        </p:txBody>
      </p:sp>
      <p:sp>
        <p:nvSpPr>
          <p:cNvPr id="9" name="Text 6"/>
          <p:cNvSpPr/>
          <p:nvPr/>
        </p:nvSpPr>
        <p:spPr>
          <a:xfrm>
            <a:off x="6400800" y="1435608"/>
            <a:ext cx="2286000" cy="594360"/>
          </a:xfrm>
          <a:prstGeom prst="rect">
            <a:avLst/>
          </a:prstGeom>
          <a:noFill/>
          <a:ln/>
        </p:spPr>
        <p:txBody>
          <a:bodyPr wrap="square" lIns="0" tIns="0" rIns="0" bIns="0" rtlCol="0" anchor="ctr"/>
          <a:lstStyle/>
          <a:p>
            <a:pPr marL="0" indent="0">
              <a:buNone/>
            </a:pPr>
            <a:r>
              <a:rPr lang="en-US" sz="1000" dirty="0">
                <a:solidFill>
                  <a:srgbClr val="2C3E50"/>
                </a:solidFill>
                <a:latin typeface="Arial" pitchFamily="34" charset="0"/>
                <a:ea typeface="Arial" pitchFamily="34" charset="-122"/>
                <a:cs typeface="Arial" pitchFamily="34" charset="-120"/>
              </a:rPr>
              <a:t>관찰 기간 100일 미만</a:t>
            </a:r>
            <a:endParaRPr lang="en-US" sz="1000" dirty="0"/>
          </a:p>
          <a:p>
            <a:pPr marL="0" indent="0">
              <a:buNone/>
            </a:pPr>
            <a:r>
              <a:rPr lang="en-US" sz="1000" dirty="0">
                <a:solidFill>
                  <a:srgbClr val="2C3E50"/>
                </a:solidFill>
                <a:latin typeface="Arial" pitchFamily="34" charset="0"/>
                <a:ea typeface="Arial" pitchFamily="34" charset="-122"/>
                <a:cs typeface="Arial" pitchFamily="34" charset="-120"/>
              </a:rPr>
              <a:t>사망(빨간 점) 집중 분포</a:t>
            </a:r>
            <a:endParaRPr lang="en-US" sz="1000" dirty="0"/>
          </a:p>
        </p:txBody>
      </p:sp>
      <p:sp>
        <p:nvSpPr>
          <p:cNvPr id="10" name="Shape 7"/>
          <p:cNvSpPr/>
          <p:nvPr/>
        </p:nvSpPr>
        <p:spPr>
          <a:xfrm>
            <a:off x="6263640" y="2286000"/>
            <a:ext cx="2606040" cy="1143000"/>
          </a:xfrm>
          <a:prstGeom prst="roundRect">
            <a:avLst>
              <a:gd name="adj" fmla="val 8000"/>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11" name="Text 8"/>
          <p:cNvSpPr/>
          <p:nvPr/>
        </p:nvSpPr>
        <p:spPr>
          <a:xfrm>
            <a:off x="6355080" y="2331720"/>
            <a:ext cx="4114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9"/>
          <p:cNvSpPr/>
          <p:nvPr/>
        </p:nvSpPr>
        <p:spPr>
          <a:xfrm>
            <a:off x="6812280" y="2340864"/>
            <a:ext cx="1965960" cy="347472"/>
          </a:xfrm>
          <a:prstGeom prst="rect">
            <a:avLst/>
          </a:prstGeom>
          <a:noFill/>
          <a:ln/>
        </p:spPr>
        <p:txBody>
          <a:bodyPr wrap="square" lIns="0" tIns="0" rIns="0" bIns="0" rtlCol="0" anchor="ctr"/>
          <a:lstStyle/>
          <a:p>
            <a:pPr marL="0" indent="0">
              <a:buNone/>
            </a:pPr>
            <a:r>
              <a:rPr lang="en-US" sz="1200" b="1" dirty="0">
                <a:solidFill>
                  <a:srgbClr val="0D2B55"/>
                </a:solidFill>
                <a:latin typeface="Arial" pitchFamily="34" charset="0"/>
                <a:ea typeface="Arial" pitchFamily="34" charset="-122"/>
                <a:cs typeface="Arial" pitchFamily="34" charset="-120"/>
              </a:rPr>
              <a:t>신장 기능 저하</a:t>
            </a:r>
            <a:endParaRPr lang="en-US" sz="1200" dirty="0"/>
          </a:p>
        </p:txBody>
      </p:sp>
      <p:sp>
        <p:nvSpPr>
          <p:cNvPr id="13" name="Text 10"/>
          <p:cNvSpPr/>
          <p:nvPr/>
        </p:nvSpPr>
        <p:spPr>
          <a:xfrm>
            <a:off x="6400800" y="2761488"/>
            <a:ext cx="2286000" cy="594360"/>
          </a:xfrm>
          <a:prstGeom prst="rect">
            <a:avLst/>
          </a:prstGeom>
          <a:noFill/>
          <a:ln/>
        </p:spPr>
        <p:txBody>
          <a:bodyPr wrap="square" lIns="0" tIns="0" rIns="0" bIns="0" rtlCol="0" anchor="ctr"/>
          <a:lstStyle/>
          <a:p>
            <a:pPr marL="0" indent="0">
              <a:buNone/>
            </a:pPr>
            <a:r>
              <a:rPr lang="en-US" sz="1000" dirty="0">
                <a:solidFill>
                  <a:srgbClr val="2C3E50"/>
                </a:solidFill>
                <a:latin typeface="Arial" pitchFamily="34" charset="0"/>
                <a:ea typeface="Arial" pitchFamily="34" charset="-122"/>
                <a:cs typeface="Arial" pitchFamily="34" charset="-120"/>
              </a:rPr>
              <a:t>크레아티닌 1.5 mg/dL 초과</a:t>
            </a:r>
            <a:endParaRPr lang="en-US" sz="1000" dirty="0"/>
          </a:p>
          <a:p>
            <a:pPr marL="0" indent="0">
              <a:buNone/>
            </a:pPr>
            <a:r>
              <a:rPr lang="en-US" sz="1000" dirty="0">
                <a:solidFill>
                  <a:srgbClr val="2C3E50"/>
                </a:solidFill>
                <a:latin typeface="Arial" pitchFamily="34" charset="0"/>
                <a:ea typeface="Arial" pitchFamily="34" charset="-122"/>
                <a:cs typeface="Arial" pitchFamily="34" charset="-120"/>
              </a:rPr>
              <a:t>위험도 급격히 증가</a:t>
            </a:r>
            <a:endParaRPr lang="en-US" sz="1000" dirty="0"/>
          </a:p>
        </p:txBody>
      </p:sp>
      <p:sp>
        <p:nvSpPr>
          <p:cNvPr id="14" name="Shape 11"/>
          <p:cNvSpPr/>
          <p:nvPr/>
        </p:nvSpPr>
        <p:spPr>
          <a:xfrm>
            <a:off x="6263640" y="3611880"/>
            <a:ext cx="2606040" cy="1143000"/>
          </a:xfrm>
          <a:prstGeom prst="roundRect">
            <a:avLst>
              <a:gd name="adj" fmla="val 8000"/>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15" name="Text 12"/>
          <p:cNvSpPr/>
          <p:nvPr/>
        </p:nvSpPr>
        <p:spPr>
          <a:xfrm>
            <a:off x="6355080" y="3657600"/>
            <a:ext cx="4114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3"/>
          <p:cNvSpPr/>
          <p:nvPr/>
        </p:nvSpPr>
        <p:spPr>
          <a:xfrm>
            <a:off x="6812280" y="3666744"/>
            <a:ext cx="1965960" cy="347472"/>
          </a:xfrm>
          <a:prstGeom prst="rect">
            <a:avLst/>
          </a:prstGeom>
          <a:noFill/>
          <a:ln/>
        </p:spPr>
        <p:txBody>
          <a:bodyPr wrap="square" lIns="0" tIns="0" rIns="0" bIns="0" rtlCol="0" anchor="ctr"/>
          <a:lstStyle/>
          <a:p>
            <a:pPr marL="0" indent="0">
              <a:buNone/>
            </a:pPr>
            <a:r>
              <a:rPr lang="en-US" sz="1200" b="1" dirty="0">
                <a:solidFill>
                  <a:srgbClr val="0D2B55"/>
                </a:solidFill>
                <a:latin typeface="Arial" pitchFamily="34" charset="0"/>
                <a:ea typeface="Arial" pitchFamily="34" charset="-122"/>
                <a:cs typeface="Arial" pitchFamily="34" charset="-120"/>
              </a:rPr>
              <a:t>심박출률 저하</a:t>
            </a:r>
            <a:endParaRPr lang="en-US" sz="1200" dirty="0"/>
          </a:p>
        </p:txBody>
      </p:sp>
      <p:sp>
        <p:nvSpPr>
          <p:cNvPr id="17" name="Text 14"/>
          <p:cNvSpPr/>
          <p:nvPr/>
        </p:nvSpPr>
        <p:spPr>
          <a:xfrm>
            <a:off x="6400800" y="4087368"/>
            <a:ext cx="2286000" cy="594360"/>
          </a:xfrm>
          <a:prstGeom prst="rect">
            <a:avLst/>
          </a:prstGeom>
          <a:noFill/>
          <a:ln/>
        </p:spPr>
        <p:txBody>
          <a:bodyPr wrap="square" lIns="0" tIns="0" rIns="0" bIns="0" rtlCol="0" anchor="ctr"/>
          <a:lstStyle/>
          <a:p>
            <a:pPr marL="0" indent="0">
              <a:buNone/>
            </a:pPr>
            <a:r>
              <a:rPr lang="en-US" sz="1000" dirty="0">
                <a:solidFill>
                  <a:srgbClr val="2C3E50"/>
                </a:solidFill>
                <a:latin typeface="Arial" pitchFamily="34" charset="0"/>
                <a:ea typeface="Arial" pitchFamily="34" charset="-122"/>
                <a:cs typeface="Arial" pitchFamily="34" charset="-120"/>
              </a:rPr>
              <a:t>작은 점(낮은 심박출률)</a:t>
            </a:r>
            <a:endParaRPr lang="en-US" sz="1000" dirty="0"/>
          </a:p>
          <a:p>
            <a:pPr marL="0" indent="0">
              <a:buNone/>
            </a:pPr>
            <a:r>
              <a:rPr lang="en-US" sz="1000" dirty="0">
                <a:solidFill>
                  <a:srgbClr val="2C3E50"/>
                </a:solidFill>
                <a:latin typeface="Arial" pitchFamily="34" charset="0"/>
                <a:ea typeface="Arial" pitchFamily="34" charset="-122"/>
                <a:cs typeface="Arial" pitchFamily="34" charset="-120"/>
              </a:rPr>
              <a:t>조기 사망 구역에 밀집</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6583680" y="-731520"/>
            <a:ext cx="3657600" cy="3657600"/>
          </a:xfrm>
          <a:prstGeom prst="ellipse">
            <a:avLst/>
          </a:prstGeom>
          <a:solidFill>
            <a:srgbClr val="1A5276">
              <a:alpha val="25000"/>
            </a:srgbClr>
          </a:solidFill>
          <a:ln w="12700">
            <a:solidFill>
              <a:srgbClr val="1A5276">
                <a:alpha val="25000"/>
              </a:srgbClr>
            </a:solidFill>
            <a:prstDash val="solid"/>
          </a:ln>
        </p:spPr>
        <p:txBody>
          <a:bodyPr/>
          <a:lstStyle/>
          <a:p>
            <a:endParaRPr lang="ko-KR" altLang="en-US"/>
          </a:p>
        </p:txBody>
      </p:sp>
      <p:sp>
        <p:nvSpPr>
          <p:cNvPr id="3" name="Text 1"/>
          <p:cNvSpPr/>
          <p:nvPr/>
        </p:nvSpPr>
        <p:spPr>
          <a:xfrm>
            <a:off x="548640" y="274320"/>
            <a:ext cx="7315200" cy="640080"/>
          </a:xfrm>
          <a:prstGeom prst="rect">
            <a:avLst/>
          </a:prstGeom>
          <a:noFill/>
          <a:ln/>
        </p:spPr>
        <p:txBody>
          <a:bodyPr wrap="square" lIns="0" tIns="0" rIns="0" bIns="0" rtlCol="0" anchor="ctr"/>
          <a:lstStyle/>
          <a:p>
            <a:pPr marL="0" indent="0">
              <a:buNone/>
            </a:pPr>
            <a:r>
              <a:rPr lang="en-US" sz="3000" b="1" dirty="0" err="1">
                <a:solidFill>
                  <a:srgbClr val="FFFFFF"/>
                </a:solidFill>
                <a:latin typeface="Cambria" pitchFamily="34" charset="0"/>
                <a:ea typeface="Cambria" pitchFamily="34" charset="-122"/>
                <a:cs typeface="Cambria" pitchFamily="34" charset="-120"/>
              </a:rPr>
              <a:t>최종</a:t>
            </a:r>
            <a:r>
              <a:rPr lang="en-US" sz="3000" b="1" dirty="0">
                <a:solidFill>
                  <a:srgbClr val="FFFFFF"/>
                </a:solidFill>
                <a:latin typeface="Cambria" pitchFamily="34" charset="0"/>
                <a:ea typeface="Cambria" pitchFamily="34" charset="-122"/>
                <a:cs typeface="Cambria" pitchFamily="34" charset="-120"/>
              </a:rPr>
              <a:t> </a:t>
            </a:r>
            <a:r>
              <a:rPr lang="en-US" sz="3000" b="1" dirty="0" err="1">
                <a:solidFill>
                  <a:srgbClr val="FFFFFF"/>
                </a:solidFill>
                <a:latin typeface="Cambria" pitchFamily="34" charset="0"/>
                <a:ea typeface="Cambria" pitchFamily="34" charset="-122"/>
                <a:cs typeface="Cambria" pitchFamily="34" charset="-120"/>
              </a:rPr>
              <a:t>결론</a:t>
            </a:r>
            <a:endParaRPr lang="en-US" sz="3000" dirty="0"/>
          </a:p>
        </p:txBody>
      </p:sp>
      <p:sp>
        <p:nvSpPr>
          <p:cNvPr id="4" name="Text 2"/>
          <p:cNvSpPr/>
          <p:nvPr/>
        </p:nvSpPr>
        <p:spPr>
          <a:xfrm>
            <a:off x="8046720" y="274320"/>
            <a:ext cx="640080" cy="640080"/>
          </a:xfrm>
          <a:prstGeom prst="rect">
            <a:avLst/>
          </a:prstGeom>
          <a:noFill/>
          <a:ln/>
        </p:spPr>
        <p:txBody>
          <a:bodyPr wrap="square" lIns="0" tIns="0" rIns="0" bIns="0" rtlCol="0" anchor="ctr"/>
          <a:lstStyle/>
          <a:p>
            <a:pPr marL="0" indent="0" algn="r">
              <a:buNone/>
            </a:pPr>
            <a:r>
              <a:rPr lang="en-US" sz="2000" b="1" dirty="0">
                <a:solidFill>
                  <a:srgbClr val="F39C12"/>
                </a:solidFill>
                <a:latin typeface="Arial" pitchFamily="34" charset="0"/>
                <a:ea typeface="Arial" pitchFamily="34" charset="-122"/>
                <a:cs typeface="Arial" pitchFamily="34" charset="-120"/>
              </a:rPr>
              <a:t>07</a:t>
            </a:r>
            <a:endParaRPr lang="en-US" sz="2000" dirty="0"/>
          </a:p>
        </p:txBody>
      </p:sp>
      <p:sp>
        <p:nvSpPr>
          <p:cNvPr id="5" name="Shape 3"/>
          <p:cNvSpPr/>
          <p:nvPr/>
        </p:nvSpPr>
        <p:spPr>
          <a:xfrm>
            <a:off x="548640" y="1005840"/>
            <a:ext cx="4114800" cy="0"/>
          </a:xfrm>
          <a:prstGeom prst="line">
            <a:avLst/>
          </a:prstGeom>
          <a:noFill/>
          <a:ln w="25400">
            <a:solidFill>
              <a:srgbClr val="F39C12"/>
            </a:solidFill>
            <a:prstDash val="solid"/>
          </a:ln>
        </p:spPr>
        <p:txBody>
          <a:bodyPr/>
          <a:lstStyle/>
          <a:p>
            <a:endParaRPr lang="ko-KR" altLang="en-US"/>
          </a:p>
        </p:txBody>
      </p:sp>
      <p:sp>
        <p:nvSpPr>
          <p:cNvPr id="6" name="Shape 4"/>
          <p:cNvSpPr/>
          <p:nvPr/>
        </p:nvSpPr>
        <p:spPr>
          <a:xfrm>
            <a:off x="320040" y="1234440"/>
            <a:ext cx="2743200" cy="3566160"/>
          </a:xfrm>
          <a:prstGeom prst="roundRect">
            <a:avLst>
              <a:gd name="adj" fmla="val 4000"/>
            </a:avLst>
          </a:prstGeom>
          <a:solidFill>
            <a:srgbClr val="1A3A5C"/>
          </a:solidFill>
          <a:ln w="12700">
            <a:solidFill>
              <a:srgbClr val="5D7A9E"/>
            </a:solidFill>
            <a:prstDash val="solid"/>
          </a:ln>
          <a:effectLst>
            <a:outerShdw blurRad="127000" dist="38100" dir="2700000" algn="bl" rotWithShape="0">
              <a:srgbClr val="000000">
                <a:alpha val="25000"/>
              </a:srgbClr>
            </a:outerShdw>
          </a:effectLst>
        </p:spPr>
        <p:txBody>
          <a:bodyPr/>
          <a:lstStyle/>
          <a:p>
            <a:endParaRPr lang="ko-KR" altLang="en-US"/>
          </a:p>
        </p:txBody>
      </p:sp>
      <p:sp>
        <p:nvSpPr>
          <p:cNvPr id="7" name="Text 5"/>
          <p:cNvSpPr/>
          <p:nvPr/>
        </p:nvSpPr>
        <p:spPr>
          <a:xfrm>
            <a:off x="457200" y="1371600"/>
            <a:ext cx="2468880" cy="411480"/>
          </a:xfrm>
          <a:prstGeom prst="rect">
            <a:avLst/>
          </a:prstGeom>
          <a:noFill/>
          <a:ln/>
        </p:spPr>
        <p:txBody>
          <a:bodyPr wrap="square" lIns="0" tIns="0" rIns="0" bIns="0" rtlCol="0" anchor="ctr"/>
          <a:lstStyle/>
          <a:p>
            <a:pPr marL="0" indent="0">
              <a:buNone/>
            </a:pPr>
            <a:r>
              <a:rPr lang="en-US" sz="1300" b="1" dirty="0" err="1">
                <a:solidFill>
                  <a:srgbClr val="F39C12"/>
                </a:solidFill>
                <a:latin typeface="Arial" pitchFamily="34" charset="0"/>
                <a:ea typeface="Arial" pitchFamily="34" charset="-122"/>
                <a:cs typeface="Arial" pitchFamily="34" charset="-120"/>
              </a:rPr>
              <a:t>핵심</a:t>
            </a:r>
            <a:r>
              <a:rPr lang="en-US" sz="1300" b="1" dirty="0">
                <a:solidFill>
                  <a:srgbClr val="F39C12"/>
                </a:solidFill>
                <a:latin typeface="Arial" pitchFamily="34" charset="0"/>
                <a:ea typeface="Arial" pitchFamily="34" charset="-122"/>
                <a:cs typeface="Arial" pitchFamily="34" charset="-120"/>
              </a:rPr>
              <a:t> 발견</a:t>
            </a:r>
            <a:endParaRPr lang="en-US" sz="1300" dirty="0"/>
          </a:p>
        </p:txBody>
      </p:sp>
      <p:sp>
        <p:nvSpPr>
          <p:cNvPr id="8" name="Shape 6"/>
          <p:cNvSpPr/>
          <p:nvPr/>
        </p:nvSpPr>
        <p:spPr>
          <a:xfrm>
            <a:off x="457200" y="1828800"/>
            <a:ext cx="2377440" cy="0"/>
          </a:xfrm>
          <a:prstGeom prst="line">
            <a:avLst/>
          </a:prstGeom>
          <a:noFill/>
          <a:ln w="12700">
            <a:solidFill>
              <a:srgbClr val="5D7A9E"/>
            </a:solidFill>
            <a:prstDash val="solid"/>
          </a:ln>
        </p:spPr>
        <p:txBody>
          <a:bodyPr/>
          <a:lstStyle/>
          <a:p>
            <a:endParaRPr lang="ko-KR" altLang="en-US"/>
          </a:p>
        </p:txBody>
      </p:sp>
      <p:sp>
        <p:nvSpPr>
          <p:cNvPr id="9" name="Text 7"/>
          <p:cNvSpPr/>
          <p:nvPr/>
        </p:nvSpPr>
        <p:spPr>
          <a:xfrm>
            <a:off x="457200" y="1920240"/>
            <a:ext cx="2468880" cy="2651760"/>
          </a:xfrm>
          <a:prstGeom prst="rect">
            <a:avLst/>
          </a:prstGeom>
          <a:noFill/>
          <a:ln/>
        </p:spPr>
        <p:txBody>
          <a:bodyPr wrap="square" lIns="0" tIns="0" rIns="0" bIns="0" rtlCol="0" anchor="t"/>
          <a:lstStyle/>
          <a:p>
            <a:pPr marL="0" indent="0">
              <a:spcAft>
                <a:spcPts val="500"/>
              </a:spcAft>
              <a:buNone/>
            </a:pPr>
            <a:r>
              <a:rPr lang="en-US" sz="1100" dirty="0">
                <a:solidFill>
                  <a:srgbClr val="FFFFFF"/>
                </a:solidFill>
                <a:latin typeface="Arial" pitchFamily="34" charset="0"/>
                <a:ea typeface="Arial" pitchFamily="34" charset="-122"/>
                <a:cs typeface="Arial" pitchFamily="34" charset="-120"/>
              </a:rPr>
              <a:t>머신러닝을 통해 심부전 환자의 생존을 결정짓는 임상 </a:t>
            </a:r>
            <a:r>
              <a:rPr lang="en-US" sz="1100" dirty="0" err="1">
                <a:solidFill>
                  <a:srgbClr val="FFFFFF"/>
                </a:solidFill>
                <a:latin typeface="Arial" pitchFamily="34" charset="0"/>
                <a:ea typeface="Arial" pitchFamily="34" charset="-122"/>
                <a:cs typeface="Arial" pitchFamily="34" charset="-120"/>
              </a:rPr>
              <a:t>패턴</a:t>
            </a:r>
            <a:r>
              <a:rPr lang="en-US" sz="1100" dirty="0">
                <a:solidFill>
                  <a:srgbClr val="FFFFFF"/>
                </a:solidFill>
                <a:latin typeface="Arial" pitchFamily="34" charset="0"/>
                <a:ea typeface="Arial" pitchFamily="34" charset="-122"/>
                <a:cs typeface="Arial" pitchFamily="34" charset="-120"/>
              </a:rPr>
              <a:t> </a:t>
            </a:r>
            <a:r>
              <a:rPr lang="en-US" sz="1100" dirty="0" err="1">
                <a:solidFill>
                  <a:srgbClr val="FFFFFF"/>
                </a:solidFill>
                <a:latin typeface="Arial" pitchFamily="34" charset="0"/>
                <a:ea typeface="Arial" pitchFamily="34" charset="-122"/>
                <a:cs typeface="Arial" pitchFamily="34" charset="-120"/>
              </a:rPr>
              <a:t>확인</a:t>
            </a:r>
            <a:endParaRPr lang="en-US" sz="1100" dirty="0">
              <a:solidFill>
                <a:srgbClr val="FFFFFF"/>
              </a:solidFill>
              <a:latin typeface="Arial" pitchFamily="34" charset="0"/>
              <a:ea typeface="Arial" pitchFamily="34" charset="-122"/>
              <a:cs typeface="Arial" pitchFamily="34" charset="-120"/>
            </a:endParaRPr>
          </a:p>
          <a:p>
            <a:pPr marL="0" indent="0">
              <a:spcAft>
                <a:spcPts val="500"/>
              </a:spcAft>
              <a:buNone/>
            </a:pPr>
            <a:endParaRPr lang="en-US" sz="110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 추적 관찰 기간 (time) </a:t>
            </a:r>
            <a:r>
              <a:rPr lang="en-US" sz="1100" dirty="0" err="1">
                <a:solidFill>
                  <a:srgbClr val="FFFFFF"/>
                </a:solidFill>
                <a:latin typeface="Arial" pitchFamily="34" charset="0"/>
                <a:ea typeface="Arial" pitchFamily="34" charset="-122"/>
                <a:cs typeface="Arial" pitchFamily="34" charset="-120"/>
              </a:rPr>
              <a:t>압도적</a:t>
            </a:r>
            <a:r>
              <a:rPr lang="en-US" sz="1100" dirty="0">
                <a:solidFill>
                  <a:srgbClr val="FFFFFF"/>
                </a:solidFill>
                <a:latin typeface="Arial" pitchFamily="34" charset="0"/>
                <a:ea typeface="Arial" pitchFamily="34" charset="-122"/>
                <a:cs typeface="Arial" pitchFamily="34" charset="-120"/>
              </a:rPr>
              <a:t> 1위</a:t>
            </a:r>
          </a:p>
          <a:p>
            <a:pPr marL="0" indent="0">
              <a:spcAft>
                <a:spcPts val="500"/>
              </a:spcAft>
              <a:buNone/>
            </a:pPr>
            <a:endParaRPr lang="en-US" sz="110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 혈청 </a:t>
            </a:r>
            <a:r>
              <a:rPr lang="en-US" sz="1100" dirty="0" err="1">
                <a:solidFill>
                  <a:srgbClr val="FFFFFF"/>
                </a:solidFill>
                <a:latin typeface="Arial" pitchFamily="34" charset="0"/>
                <a:ea typeface="Arial" pitchFamily="34" charset="-122"/>
                <a:cs typeface="Arial" pitchFamily="34" charset="-120"/>
              </a:rPr>
              <a:t>크레아티닌</a:t>
            </a:r>
            <a:r>
              <a:rPr lang="en-US" sz="1100" dirty="0">
                <a:solidFill>
                  <a:srgbClr val="FFFFFF"/>
                </a:solidFill>
                <a:latin typeface="Arial" pitchFamily="34" charset="0"/>
                <a:ea typeface="Arial" pitchFamily="34" charset="-122"/>
                <a:cs typeface="Arial" pitchFamily="34" charset="-120"/>
              </a:rPr>
              <a:t> </a:t>
            </a:r>
            <a:r>
              <a:rPr lang="en-US" sz="1100" dirty="0" err="1">
                <a:solidFill>
                  <a:srgbClr val="FFFFFF"/>
                </a:solidFill>
                <a:latin typeface="Arial" pitchFamily="34" charset="0"/>
                <a:ea typeface="Arial" pitchFamily="34" charset="-122"/>
                <a:cs typeface="Arial" pitchFamily="34" charset="-120"/>
              </a:rPr>
              <a:t>신장</a:t>
            </a:r>
            <a:r>
              <a:rPr lang="en-US" sz="1100" dirty="0">
                <a:solidFill>
                  <a:srgbClr val="FFFFFF"/>
                </a:solidFill>
                <a:latin typeface="Arial" pitchFamily="34" charset="0"/>
                <a:ea typeface="Arial" pitchFamily="34" charset="-122"/>
                <a:cs typeface="Arial" pitchFamily="34" charset="-120"/>
              </a:rPr>
              <a:t> </a:t>
            </a:r>
            <a:r>
              <a:rPr lang="en-US" sz="1100" dirty="0" err="1">
                <a:solidFill>
                  <a:srgbClr val="FFFFFF"/>
                </a:solidFill>
                <a:latin typeface="Arial" pitchFamily="34" charset="0"/>
                <a:ea typeface="Arial" pitchFamily="34" charset="-122"/>
                <a:cs typeface="Arial" pitchFamily="34" charset="-120"/>
              </a:rPr>
              <a:t>기능의</a:t>
            </a:r>
            <a:r>
              <a:rPr lang="en-US" sz="1100" dirty="0">
                <a:solidFill>
                  <a:srgbClr val="FFFFFF"/>
                </a:solidFill>
                <a:latin typeface="Arial" pitchFamily="34" charset="0"/>
                <a:ea typeface="Arial" pitchFamily="34" charset="-122"/>
                <a:cs typeface="Arial" pitchFamily="34" charset="-120"/>
              </a:rPr>
              <a:t> </a:t>
            </a:r>
            <a:r>
              <a:rPr lang="en-US" sz="1100" dirty="0" err="1">
                <a:solidFill>
                  <a:srgbClr val="FFFFFF"/>
                </a:solidFill>
                <a:latin typeface="Arial" pitchFamily="34" charset="0"/>
                <a:ea typeface="Arial" pitchFamily="34" charset="-122"/>
                <a:cs typeface="Arial" pitchFamily="34" charset="-120"/>
              </a:rPr>
              <a:t>중요성</a:t>
            </a:r>
            <a:endParaRPr lang="en-US" sz="1100" dirty="0">
              <a:solidFill>
                <a:srgbClr val="FFFFFF"/>
              </a:solidFill>
              <a:latin typeface="Arial" pitchFamily="34" charset="0"/>
              <a:ea typeface="Arial" pitchFamily="34" charset="-122"/>
              <a:cs typeface="Arial" pitchFamily="34" charset="-120"/>
            </a:endParaRPr>
          </a:p>
          <a:p>
            <a:pPr marL="0" indent="0">
              <a:spcAft>
                <a:spcPts val="500"/>
              </a:spcAft>
              <a:buNone/>
            </a:pPr>
            <a:endParaRPr lang="en-US" sz="110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 </a:t>
            </a:r>
            <a:r>
              <a:rPr lang="en-US" sz="1100" dirty="0" err="1">
                <a:solidFill>
                  <a:srgbClr val="FFFFFF"/>
                </a:solidFill>
                <a:latin typeface="Arial" pitchFamily="34" charset="0"/>
                <a:ea typeface="Arial" pitchFamily="34" charset="-122"/>
                <a:cs typeface="Arial" pitchFamily="34" charset="-120"/>
              </a:rPr>
              <a:t>심박출률</a:t>
            </a:r>
            <a:endParaRPr lang="en-US" sz="1100" dirty="0">
              <a:solidFill>
                <a:srgbClr val="FFFFFF"/>
              </a:solidFill>
              <a:latin typeface="Arial" pitchFamily="34" charset="0"/>
              <a:ea typeface="Arial" pitchFamily="34" charset="-122"/>
              <a:cs typeface="Arial" pitchFamily="34" charset="-120"/>
            </a:endParaRPr>
          </a:p>
          <a:p>
            <a:pPr marL="0" indent="0">
              <a:spcAft>
                <a:spcPts val="500"/>
              </a:spcAft>
              <a:buNone/>
            </a:pPr>
            <a:endParaRPr lang="en-US" sz="1100" dirty="0">
              <a:solidFill>
                <a:srgbClr val="FFFFFF"/>
              </a:solidFill>
              <a:latin typeface="Arial" pitchFamily="34" charset="0"/>
              <a:cs typeface="Arial" pitchFamily="34" charset="-120"/>
            </a:endParaRPr>
          </a:p>
          <a:p>
            <a:pPr marL="0" indent="0">
              <a:spcAft>
                <a:spcPts val="500"/>
              </a:spcAft>
              <a:buNone/>
            </a:pPr>
            <a:r>
              <a:rPr lang="ko-KR" altLang="en-US" sz="1100" dirty="0">
                <a:solidFill>
                  <a:srgbClr val="FFFFFF"/>
                </a:solidFill>
                <a:latin typeface="Arial" pitchFamily="34" charset="0"/>
                <a:ea typeface="Arial" pitchFamily="34" charset="-122"/>
                <a:cs typeface="Arial" pitchFamily="34" charset="-120"/>
              </a:rPr>
              <a:t>해당 </a:t>
            </a:r>
            <a:r>
              <a:rPr lang="en-US" altLang="ko-KR" sz="1100" dirty="0">
                <a:solidFill>
                  <a:srgbClr val="FFFFFF"/>
                </a:solidFill>
                <a:latin typeface="Arial" pitchFamily="34" charset="0"/>
                <a:ea typeface="Arial" pitchFamily="34" charset="-122"/>
                <a:cs typeface="Arial" pitchFamily="34" charset="-120"/>
              </a:rPr>
              <a:t>3</a:t>
            </a:r>
            <a:r>
              <a:rPr lang="ko-KR" altLang="en-US" sz="1100" dirty="0">
                <a:solidFill>
                  <a:srgbClr val="FFFFFF"/>
                </a:solidFill>
                <a:latin typeface="Arial" pitchFamily="34" charset="0"/>
                <a:ea typeface="Arial" pitchFamily="34" charset="-122"/>
                <a:cs typeface="Arial" pitchFamily="34" charset="-120"/>
              </a:rPr>
              <a:t>가지가 심부전 환자의 생존여부에 가장 위험 요인</a:t>
            </a:r>
            <a:endParaRPr lang="en-US" sz="1100" dirty="0"/>
          </a:p>
        </p:txBody>
      </p:sp>
      <p:sp>
        <p:nvSpPr>
          <p:cNvPr id="10" name="Shape 8"/>
          <p:cNvSpPr/>
          <p:nvPr/>
        </p:nvSpPr>
        <p:spPr>
          <a:xfrm>
            <a:off x="3227832" y="1234440"/>
            <a:ext cx="2743200" cy="3566160"/>
          </a:xfrm>
          <a:prstGeom prst="roundRect">
            <a:avLst>
              <a:gd name="adj" fmla="val 4000"/>
            </a:avLst>
          </a:prstGeom>
          <a:solidFill>
            <a:srgbClr val="1A3A5C"/>
          </a:solidFill>
          <a:ln w="12700">
            <a:solidFill>
              <a:srgbClr val="5D7A9E"/>
            </a:solidFill>
            <a:prstDash val="solid"/>
          </a:ln>
          <a:effectLst>
            <a:outerShdw blurRad="127000" dist="38100" dir="2700000" algn="bl" rotWithShape="0">
              <a:srgbClr val="000000">
                <a:alpha val="25000"/>
              </a:srgbClr>
            </a:outerShdw>
          </a:effectLst>
        </p:spPr>
        <p:txBody>
          <a:bodyPr/>
          <a:lstStyle/>
          <a:p>
            <a:endParaRPr lang="ko-KR" altLang="en-US"/>
          </a:p>
        </p:txBody>
      </p:sp>
      <p:sp>
        <p:nvSpPr>
          <p:cNvPr id="11" name="Text 9"/>
          <p:cNvSpPr/>
          <p:nvPr/>
        </p:nvSpPr>
        <p:spPr>
          <a:xfrm>
            <a:off x="3364992" y="1371600"/>
            <a:ext cx="2468880" cy="411480"/>
          </a:xfrm>
          <a:prstGeom prst="rect">
            <a:avLst/>
          </a:prstGeom>
          <a:noFill/>
          <a:ln/>
        </p:spPr>
        <p:txBody>
          <a:bodyPr wrap="square" lIns="0" tIns="0" rIns="0" bIns="0" rtlCol="0" anchor="ctr"/>
          <a:lstStyle/>
          <a:p>
            <a:pPr marL="0" indent="0">
              <a:buNone/>
            </a:pPr>
            <a:r>
              <a:rPr lang="ko-KR" altLang="en-US" sz="1300" b="1" dirty="0">
                <a:solidFill>
                  <a:srgbClr val="F39C12"/>
                </a:solidFill>
                <a:latin typeface="Arial" pitchFamily="34" charset="0"/>
                <a:ea typeface="Arial" pitchFamily="34" charset="-122"/>
                <a:cs typeface="Arial" pitchFamily="34" charset="-120"/>
              </a:rPr>
              <a:t>예측 모델 성능 검증</a:t>
            </a:r>
            <a:endParaRPr lang="en-US" sz="1300" dirty="0"/>
          </a:p>
        </p:txBody>
      </p:sp>
      <p:sp>
        <p:nvSpPr>
          <p:cNvPr id="12" name="Shape 10"/>
          <p:cNvSpPr/>
          <p:nvPr/>
        </p:nvSpPr>
        <p:spPr>
          <a:xfrm>
            <a:off x="3364992" y="1828800"/>
            <a:ext cx="2377440" cy="0"/>
          </a:xfrm>
          <a:prstGeom prst="line">
            <a:avLst/>
          </a:prstGeom>
          <a:noFill/>
          <a:ln w="12700">
            <a:solidFill>
              <a:srgbClr val="5D7A9E"/>
            </a:solidFill>
            <a:prstDash val="solid"/>
          </a:ln>
        </p:spPr>
        <p:txBody>
          <a:bodyPr/>
          <a:lstStyle/>
          <a:p>
            <a:endParaRPr lang="ko-KR" altLang="en-US"/>
          </a:p>
        </p:txBody>
      </p:sp>
      <p:sp>
        <p:nvSpPr>
          <p:cNvPr id="13" name="Text 11"/>
          <p:cNvSpPr/>
          <p:nvPr/>
        </p:nvSpPr>
        <p:spPr>
          <a:xfrm>
            <a:off x="3364992" y="1920240"/>
            <a:ext cx="2468880" cy="2651760"/>
          </a:xfrm>
          <a:prstGeom prst="rect">
            <a:avLst/>
          </a:prstGeom>
          <a:noFill/>
          <a:ln/>
        </p:spPr>
        <p:txBody>
          <a:bodyPr wrap="square" lIns="0" tIns="0" rIns="0" bIns="0" rtlCol="0" anchor="t"/>
          <a:lstStyle/>
          <a:p>
            <a:pPr marL="0" indent="0">
              <a:spcAft>
                <a:spcPts val="500"/>
              </a:spcAft>
              <a:buNone/>
            </a:pPr>
            <a:r>
              <a:rPr lang="en-US" sz="1100" dirty="0">
                <a:solidFill>
                  <a:srgbClr val="FFFFFF"/>
                </a:solidFill>
                <a:latin typeface="Arial" pitchFamily="34" charset="0"/>
                <a:ea typeface="Arial" pitchFamily="34" charset="-122"/>
                <a:cs typeface="Arial" pitchFamily="34" charset="-120"/>
              </a:rPr>
              <a:t>KNN, Decision Tree, Random Forest </a:t>
            </a:r>
            <a:r>
              <a:rPr lang="ko-KR" altLang="en-US" sz="1100" dirty="0">
                <a:solidFill>
                  <a:srgbClr val="FFFFFF"/>
                </a:solidFill>
                <a:latin typeface="Arial" pitchFamily="34" charset="0"/>
                <a:ea typeface="Arial" pitchFamily="34" charset="-122"/>
                <a:cs typeface="Arial" pitchFamily="34" charset="-120"/>
              </a:rPr>
              <a:t>등 다양한 분류 알고리즘을 학습시킨 결과</a:t>
            </a:r>
            <a:r>
              <a:rPr lang="en-US" altLang="ko-KR" sz="1100" dirty="0">
                <a:solidFill>
                  <a:srgbClr val="FFFFFF"/>
                </a:solidFill>
                <a:latin typeface="Arial" pitchFamily="34" charset="0"/>
                <a:ea typeface="Arial" pitchFamily="34" charset="-122"/>
                <a:cs typeface="Arial" pitchFamily="34" charset="-120"/>
              </a:rPr>
              <a:t>, Random Forest </a:t>
            </a:r>
            <a:r>
              <a:rPr lang="ko-KR" altLang="en-US" sz="1100" dirty="0">
                <a:solidFill>
                  <a:srgbClr val="FFFFFF"/>
                </a:solidFill>
                <a:latin typeface="Arial" pitchFamily="34" charset="0"/>
                <a:ea typeface="Arial" pitchFamily="34" charset="-122"/>
                <a:cs typeface="Arial" pitchFamily="34" charset="-120"/>
              </a:rPr>
              <a:t>모델이 정밀도와 </a:t>
            </a:r>
            <a:r>
              <a:rPr lang="ko-KR" altLang="en-US" sz="1100" dirty="0" err="1">
                <a:solidFill>
                  <a:srgbClr val="FFFFFF"/>
                </a:solidFill>
                <a:latin typeface="Arial" pitchFamily="34" charset="0"/>
                <a:ea typeface="Arial" pitchFamily="34" charset="-122"/>
                <a:cs typeface="Arial" pitchFamily="34" charset="-120"/>
              </a:rPr>
              <a:t>재현율</a:t>
            </a:r>
            <a:r>
              <a:rPr lang="ko-KR" altLang="en-US" sz="1100" dirty="0">
                <a:solidFill>
                  <a:srgbClr val="FFFFFF"/>
                </a:solidFill>
                <a:latin typeface="Arial" pitchFamily="34" charset="0"/>
                <a:ea typeface="Arial" pitchFamily="34" charset="-122"/>
                <a:cs typeface="Arial" pitchFamily="34" charset="-120"/>
              </a:rPr>
              <a:t> 측면에서 가장 높은 일반화 성능을 보임</a:t>
            </a:r>
            <a:r>
              <a:rPr lang="en-US" altLang="ko-KR" sz="1100" dirty="0">
                <a:solidFill>
                  <a:srgbClr val="FFFFFF"/>
                </a:solidFill>
                <a:latin typeface="Arial" pitchFamily="34" charset="0"/>
                <a:ea typeface="Arial" pitchFamily="34" charset="-122"/>
                <a:cs typeface="Arial" pitchFamily="34" charset="-120"/>
              </a:rPr>
              <a:t>.</a:t>
            </a:r>
          </a:p>
          <a:p>
            <a:pPr marL="0" indent="0">
              <a:spcAft>
                <a:spcPts val="500"/>
              </a:spcAft>
              <a:buNone/>
            </a:pPr>
            <a:endParaRPr lang="en-US" sz="1100" dirty="0">
              <a:solidFill>
                <a:srgbClr val="FFFFFF"/>
              </a:solidFill>
              <a:latin typeface="Arial" pitchFamily="34" charset="0"/>
              <a:ea typeface="Arial" pitchFamily="34" charset="-122"/>
              <a:cs typeface="Arial" pitchFamily="34" charset="-120"/>
            </a:endParaRPr>
          </a:p>
          <a:p>
            <a:pPr marL="0" indent="0">
              <a:spcAft>
                <a:spcPts val="500"/>
              </a:spcAft>
              <a:buNone/>
            </a:pPr>
            <a:endParaRPr lang="en-US" sz="1100" dirty="0">
              <a:solidFill>
                <a:srgbClr val="FFFFFF"/>
              </a:solidFill>
              <a:latin typeface="Arial" pitchFamily="34" charset="0"/>
              <a:ea typeface="Arial" pitchFamily="34" charset="-122"/>
              <a:cs typeface="Arial" pitchFamily="34" charset="-120"/>
            </a:endParaRPr>
          </a:p>
        </p:txBody>
      </p:sp>
      <p:sp>
        <p:nvSpPr>
          <p:cNvPr id="14" name="Shape 12"/>
          <p:cNvSpPr/>
          <p:nvPr/>
        </p:nvSpPr>
        <p:spPr>
          <a:xfrm>
            <a:off x="6135624" y="1234440"/>
            <a:ext cx="2743200" cy="3566160"/>
          </a:xfrm>
          <a:prstGeom prst="roundRect">
            <a:avLst>
              <a:gd name="adj" fmla="val 4000"/>
            </a:avLst>
          </a:prstGeom>
          <a:solidFill>
            <a:srgbClr val="1A3A5C"/>
          </a:solidFill>
          <a:ln w="12700">
            <a:solidFill>
              <a:srgbClr val="5D7A9E"/>
            </a:solidFill>
            <a:prstDash val="solid"/>
          </a:ln>
          <a:effectLst>
            <a:outerShdw blurRad="127000" dist="38100" dir="2700000" algn="bl" rotWithShape="0">
              <a:srgbClr val="000000">
                <a:alpha val="25000"/>
              </a:srgbClr>
            </a:outerShdw>
          </a:effectLst>
        </p:spPr>
        <p:txBody>
          <a:bodyPr/>
          <a:lstStyle/>
          <a:p>
            <a:endParaRPr lang="ko-KR" altLang="en-US" dirty="0"/>
          </a:p>
        </p:txBody>
      </p:sp>
      <p:sp>
        <p:nvSpPr>
          <p:cNvPr id="15" name="Text 13"/>
          <p:cNvSpPr/>
          <p:nvPr/>
        </p:nvSpPr>
        <p:spPr>
          <a:xfrm>
            <a:off x="6272784" y="1371600"/>
            <a:ext cx="2468880" cy="411480"/>
          </a:xfrm>
          <a:prstGeom prst="rect">
            <a:avLst/>
          </a:prstGeom>
          <a:noFill/>
          <a:ln/>
        </p:spPr>
        <p:txBody>
          <a:bodyPr wrap="square" lIns="0" tIns="0" rIns="0" bIns="0" rtlCol="0" anchor="ctr"/>
          <a:lstStyle/>
          <a:p>
            <a:pPr marL="0" indent="0">
              <a:buNone/>
            </a:pPr>
            <a:r>
              <a:rPr lang="ko-KR" altLang="en-US" sz="1300" b="1" dirty="0">
                <a:solidFill>
                  <a:srgbClr val="F39C12"/>
                </a:solidFill>
                <a:latin typeface="Arial" pitchFamily="34" charset="0"/>
                <a:ea typeface="Arial" pitchFamily="34" charset="-122"/>
                <a:cs typeface="Arial" pitchFamily="34" charset="-120"/>
              </a:rPr>
              <a:t>핵심 위험 요인 도출</a:t>
            </a:r>
            <a:endParaRPr lang="en-US" sz="1300" dirty="0"/>
          </a:p>
        </p:txBody>
      </p:sp>
      <p:sp>
        <p:nvSpPr>
          <p:cNvPr id="16" name="Shape 14"/>
          <p:cNvSpPr/>
          <p:nvPr/>
        </p:nvSpPr>
        <p:spPr>
          <a:xfrm>
            <a:off x="6272784" y="1828800"/>
            <a:ext cx="2377440" cy="0"/>
          </a:xfrm>
          <a:prstGeom prst="line">
            <a:avLst/>
          </a:prstGeom>
          <a:noFill/>
          <a:ln w="12700">
            <a:solidFill>
              <a:srgbClr val="5D7A9E"/>
            </a:solidFill>
            <a:prstDash val="solid"/>
          </a:ln>
        </p:spPr>
        <p:txBody>
          <a:bodyPr/>
          <a:lstStyle/>
          <a:p>
            <a:endParaRPr lang="ko-KR" altLang="en-US"/>
          </a:p>
        </p:txBody>
      </p:sp>
      <p:sp>
        <p:nvSpPr>
          <p:cNvPr id="17" name="Text 15"/>
          <p:cNvSpPr/>
          <p:nvPr/>
        </p:nvSpPr>
        <p:spPr>
          <a:xfrm>
            <a:off x="6272784" y="1920240"/>
            <a:ext cx="2468880" cy="2651760"/>
          </a:xfrm>
          <a:prstGeom prst="rect">
            <a:avLst/>
          </a:prstGeom>
          <a:noFill/>
          <a:ln/>
        </p:spPr>
        <p:txBody>
          <a:bodyPr wrap="square" lIns="0" tIns="0" rIns="0" bIns="0" rtlCol="0" anchor="t"/>
          <a:lstStyle/>
          <a:p>
            <a:pPr marL="0" indent="0">
              <a:spcAft>
                <a:spcPts val="500"/>
              </a:spcAft>
              <a:buNone/>
            </a:pPr>
            <a:r>
              <a:rPr lang="ko-KR" altLang="en-US" sz="1100" dirty="0">
                <a:solidFill>
                  <a:srgbClr val="FFFFFF"/>
                </a:solidFill>
                <a:latin typeface="Arial" pitchFamily="34" charset="0"/>
                <a:cs typeface="Arial" pitchFamily="34" charset="-120"/>
              </a:rPr>
              <a:t>핵심 위험 요인을 도출하여 </a:t>
            </a:r>
            <a:r>
              <a:rPr lang="en-US" altLang="ko-KR" sz="1100" dirty="0">
                <a:solidFill>
                  <a:srgbClr val="FFFFFF"/>
                </a:solidFill>
                <a:latin typeface="Arial" pitchFamily="34" charset="0"/>
                <a:cs typeface="Arial" pitchFamily="34" charset="-120"/>
              </a:rPr>
              <a:t>Top3</a:t>
            </a:r>
            <a:r>
              <a:rPr lang="ko-KR" altLang="en-US" sz="1100" dirty="0">
                <a:solidFill>
                  <a:srgbClr val="FFFFFF"/>
                </a:solidFill>
                <a:latin typeface="Arial" pitchFamily="34" charset="0"/>
                <a:cs typeface="Arial" pitchFamily="34" charset="-120"/>
              </a:rPr>
              <a:t> 변수를 복합적으로 교차 분석</a:t>
            </a:r>
            <a:r>
              <a:rPr lang="en-US" altLang="ko-KR" sz="1100" dirty="0">
                <a:solidFill>
                  <a:srgbClr val="FFFFFF"/>
                </a:solidFill>
                <a:latin typeface="Arial" pitchFamily="34" charset="0"/>
                <a:cs typeface="Arial" pitchFamily="34" charset="-120"/>
              </a:rPr>
              <a:t>.</a:t>
            </a:r>
          </a:p>
          <a:p>
            <a:pPr marL="0" indent="0">
              <a:spcAft>
                <a:spcPts val="500"/>
              </a:spcAft>
              <a:buNone/>
            </a:pPr>
            <a:endParaRPr lang="en-US" sz="1100" dirty="0">
              <a:solidFill>
                <a:srgbClr val="FFFFFF"/>
              </a:solidFill>
              <a:latin typeface="Arial" pitchFamily="34" charset="0"/>
              <a:cs typeface="Arial" pitchFamily="34" charset="-120"/>
            </a:endParaRPr>
          </a:p>
          <a:p>
            <a:pPr marL="0" indent="0">
              <a:spcAft>
                <a:spcPts val="500"/>
              </a:spcAft>
              <a:buNone/>
            </a:pPr>
            <a:r>
              <a:rPr lang="ko-KR" altLang="en-US" sz="1100" dirty="0">
                <a:solidFill>
                  <a:srgbClr val="FFFFFF"/>
                </a:solidFill>
                <a:latin typeface="Arial" pitchFamily="34" charset="0"/>
                <a:cs typeface="Arial" pitchFamily="34" charset="-120"/>
              </a:rPr>
              <a:t>버블 차트를 통해 세 지표가 동시에 악화된 환자군에서 사망 사례가 집약적으로 나타나는 것을 발견</a:t>
            </a:r>
            <a:r>
              <a:rPr lang="en-US" altLang="ko-KR" sz="1100" dirty="0">
                <a:solidFill>
                  <a:srgbClr val="FFFFFF"/>
                </a:solidFill>
                <a:latin typeface="Arial" pitchFamily="34" charset="0"/>
                <a:cs typeface="Arial" pitchFamily="34" charset="-120"/>
              </a:rPr>
              <a:t>.</a:t>
            </a:r>
          </a:p>
          <a:p>
            <a:pPr marL="0" indent="0">
              <a:spcAft>
                <a:spcPts val="500"/>
              </a:spcAft>
              <a:buNone/>
            </a:pPr>
            <a:endParaRPr lang="en-US" sz="1100" dirty="0">
              <a:solidFill>
                <a:srgbClr val="FFFFFF"/>
              </a:solidFill>
              <a:latin typeface="Arial" pitchFamily="34" charset="0"/>
              <a:cs typeface="Arial" pitchFamily="34" charset="-120"/>
            </a:endParaRPr>
          </a:p>
          <a:p>
            <a:pPr marL="0" indent="0">
              <a:spcAft>
                <a:spcPts val="500"/>
              </a:spcAft>
              <a:buNone/>
            </a:pPr>
            <a:r>
              <a:rPr lang="ko-KR" altLang="en-US" sz="1100" dirty="0">
                <a:solidFill>
                  <a:srgbClr val="FFFFFF"/>
                </a:solidFill>
                <a:latin typeface="Arial" pitchFamily="34" charset="0"/>
                <a:cs typeface="Arial" pitchFamily="34" charset="-120"/>
              </a:rPr>
              <a:t>특히 </a:t>
            </a:r>
            <a:r>
              <a:rPr lang="ko-KR" altLang="en-US" sz="1100" dirty="0" err="1">
                <a:solidFill>
                  <a:srgbClr val="FFFFFF"/>
                </a:solidFill>
                <a:latin typeface="Arial" pitchFamily="34" charset="0"/>
                <a:cs typeface="Arial" pitchFamily="34" charset="-120"/>
              </a:rPr>
              <a:t>추척</a:t>
            </a:r>
            <a:r>
              <a:rPr lang="ko-KR" altLang="en-US" sz="1100" dirty="0">
                <a:solidFill>
                  <a:srgbClr val="FFFFFF"/>
                </a:solidFill>
                <a:latin typeface="Arial" pitchFamily="34" charset="0"/>
                <a:cs typeface="Arial" pitchFamily="34" charset="-120"/>
              </a:rPr>
              <a:t> 관찰시간이 짧을수록 사망 위험이 급증한다는 점을 밝혀내어</a:t>
            </a:r>
            <a:r>
              <a:rPr lang="en-US" altLang="ko-KR" sz="1100" dirty="0">
                <a:solidFill>
                  <a:srgbClr val="FFFFFF"/>
                </a:solidFill>
                <a:latin typeface="Arial" pitchFamily="34" charset="0"/>
                <a:cs typeface="Arial" pitchFamily="34" charset="-120"/>
              </a:rPr>
              <a:t>, </a:t>
            </a:r>
            <a:r>
              <a:rPr lang="ko-KR" altLang="en-US" sz="1100" dirty="0">
                <a:solidFill>
                  <a:srgbClr val="FFFFFF"/>
                </a:solidFill>
                <a:latin typeface="Arial" pitchFamily="34" charset="0"/>
                <a:cs typeface="Arial" pitchFamily="34" charset="-120"/>
              </a:rPr>
              <a:t>심부전 예후 관리에 있어 조기 모니터링의 임상적 중요성을 시각적으로 입증</a:t>
            </a:r>
            <a:r>
              <a:rPr lang="en-US" altLang="ko-KR" sz="1100" dirty="0">
                <a:solidFill>
                  <a:srgbClr val="FFFFFF"/>
                </a:solidFill>
                <a:latin typeface="Arial" pitchFamily="34" charset="0"/>
                <a:cs typeface="Arial" pitchFamily="34" charset="-120"/>
              </a:rPr>
              <a:t>.</a:t>
            </a:r>
            <a:endParaRPr lang="en-US" sz="1100" dirty="0">
              <a:solidFill>
                <a:srgbClr val="FFFFFF"/>
              </a:solidFill>
              <a:latin typeface="Arial" pitchFamily="34" charset="0"/>
              <a:cs typeface="Arial"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5"/>
          </a:solidFill>
          <a:ln w="12700">
            <a:solidFill>
              <a:srgbClr val="0D2B55"/>
            </a:solidFill>
            <a:prstDash val="solid"/>
          </a:ln>
        </p:spPr>
        <p:txBody>
          <a:bodyPr/>
          <a:lstStyle/>
          <a:p>
            <a:endParaRPr lang="ko-KR" altLang="en-US"/>
          </a:p>
        </p:txBody>
      </p:sp>
      <p:sp>
        <p:nvSpPr>
          <p:cNvPr id="3" name="Text 1"/>
          <p:cNvSpPr/>
          <p:nvPr/>
        </p:nvSpPr>
        <p:spPr>
          <a:xfrm>
            <a:off x="457200" y="0"/>
            <a:ext cx="804672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프로젝트를 통해 알게 된 점 &amp; 느낀 점</a:t>
            </a:r>
            <a:endParaRPr lang="en-US" sz="2600" dirty="0"/>
          </a:p>
        </p:txBody>
      </p:sp>
      <p:sp>
        <p:nvSpPr>
          <p:cNvPr id="4" name="Text 2"/>
          <p:cNvSpPr/>
          <p:nvPr/>
        </p:nvSpPr>
        <p:spPr>
          <a:xfrm>
            <a:off x="8046720" y="0"/>
            <a:ext cx="640080" cy="777240"/>
          </a:xfrm>
          <a:prstGeom prst="rect">
            <a:avLst/>
          </a:prstGeom>
          <a:noFill/>
          <a:ln/>
        </p:spPr>
        <p:txBody>
          <a:bodyPr wrap="square" lIns="0" tIns="0" rIns="0" bIns="0" rtlCol="0" anchor="ctr"/>
          <a:lstStyle/>
          <a:p>
            <a:pPr marL="0" indent="0" algn="r">
              <a:buNone/>
            </a:pPr>
            <a:r>
              <a:rPr lang="en-US" sz="2000" b="1" dirty="0">
                <a:solidFill>
                  <a:srgbClr val="F39C12"/>
                </a:solidFill>
                <a:latin typeface="Arial" pitchFamily="34" charset="0"/>
                <a:ea typeface="Arial" pitchFamily="34" charset="-122"/>
                <a:cs typeface="Arial" pitchFamily="34" charset="-120"/>
              </a:rPr>
              <a:t>08</a:t>
            </a:r>
            <a:endParaRPr lang="en-US" sz="2000" dirty="0"/>
          </a:p>
        </p:txBody>
      </p:sp>
      <p:sp>
        <p:nvSpPr>
          <p:cNvPr id="5" name="Shape 3"/>
          <p:cNvSpPr/>
          <p:nvPr/>
        </p:nvSpPr>
        <p:spPr>
          <a:xfrm>
            <a:off x="274320" y="932688"/>
            <a:ext cx="1463040" cy="347472"/>
          </a:xfrm>
          <a:prstGeom prst="roundRect">
            <a:avLst>
              <a:gd name="adj" fmla="val 21053"/>
            </a:avLst>
          </a:prstGeom>
          <a:solidFill>
            <a:srgbClr val="0D2B55"/>
          </a:solidFill>
          <a:ln w="12700">
            <a:solidFill>
              <a:srgbClr val="0D2B55"/>
            </a:solidFill>
            <a:prstDash val="solid"/>
          </a:ln>
        </p:spPr>
        <p:txBody>
          <a:bodyPr/>
          <a:lstStyle/>
          <a:p>
            <a:endParaRPr lang="ko-KR" altLang="en-US"/>
          </a:p>
        </p:txBody>
      </p:sp>
      <p:sp>
        <p:nvSpPr>
          <p:cNvPr id="6" name="Text 4"/>
          <p:cNvSpPr/>
          <p:nvPr/>
        </p:nvSpPr>
        <p:spPr>
          <a:xfrm>
            <a:off x="274320" y="932688"/>
            <a:ext cx="14630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  알게 된 점</a:t>
            </a:r>
            <a:endParaRPr lang="en-US" sz="1100" dirty="0"/>
          </a:p>
        </p:txBody>
      </p:sp>
      <p:sp>
        <p:nvSpPr>
          <p:cNvPr id="7" name="Shape 5"/>
          <p:cNvSpPr/>
          <p:nvPr/>
        </p:nvSpPr>
        <p:spPr>
          <a:xfrm>
            <a:off x="274320" y="1389888"/>
            <a:ext cx="2743200" cy="1691640"/>
          </a:xfrm>
          <a:prstGeom prst="roundRect">
            <a:avLst>
              <a:gd name="adj" fmla="val 5405"/>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8" name="Shape 6"/>
          <p:cNvSpPr/>
          <p:nvPr/>
        </p:nvSpPr>
        <p:spPr>
          <a:xfrm>
            <a:off x="402336" y="1481328"/>
            <a:ext cx="365760" cy="365760"/>
          </a:xfrm>
          <a:prstGeom prst="ellipse">
            <a:avLst/>
          </a:prstGeom>
          <a:solidFill>
            <a:srgbClr val="0D2B55"/>
          </a:solidFill>
          <a:ln w="12700">
            <a:solidFill>
              <a:srgbClr val="0D2B55"/>
            </a:solidFill>
            <a:prstDash val="solid"/>
          </a:ln>
        </p:spPr>
        <p:txBody>
          <a:bodyPr/>
          <a:lstStyle/>
          <a:p>
            <a:endParaRPr lang="ko-KR" altLang="en-US"/>
          </a:p>
        </p:txBody>
      </p:sp>
      <p:sp>
        <p:nvSpPr>
          <p:cNvPr id="9" name="Text 7"/>
          <p:cNvSpPr/>
          <p:nvPr/>
        </p:nvSpPr>
        <p:spPr>
          <a:xfrm>
            <a:off x="402336" y="1481328"/>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10" name="Text 8"/>
          <p:cNvSpPr/>
          <p:nvPr/>
        </p:nvSpPr>
        <p:spPr>
          <a:xfrm>
            <a:off x="841248" y="1463040"/>
            <a:ext cx="2057400" cy="384048"/>
          </a:xfrm>
          <a:prstGeom prst="rect">
            <a:avLst/>
          </a:prstGeom>
          <a:noFill/>
          <a:ln/>
        </p:spPr>
        <p:txBody>
          <a:bodyPr wrap="square" lIns="0" tIns="0" rIns="0" bIns="0" rtlCol="0" anchor="ctr"/>
          <a:lstStyle/>
          <a:p>
            <a:pPr marL="0" indent="0">
              <a:buNone/>
            </a:pPr>
            <a:r>
              <a:rPr lang="en-US" sz="1150" b="1" dirty="0" err="1">
                <a:solidFill>
                  <a:srgbClr val="0D2B55"/>
                </a:solidFill>
                <a:latin typeface="Arial" pitchFamily="34" charset="0"/>
                <a:ea typeface="Arial" pitchFamily="34" charset="-122"/>
                <a:cs typeface="Arial" pitchFamily="34" charset="-120"/>
              </a:rPr>
              <a:t>평가</a:t>
            </a:r>
            <a:r>
              <a:rPr lang="en-US" sz="1150" b="1" dirty="0">
                <a:solidFill>
                  <a:srgbClr val="0D2B55"/>
                </a:solidFill>
                <a:latin typeface="Arial" pitchFamily="34" charset="0"/>
                <a:ea typeface="Arial" pitchFamily="34" charset="-122"/>
                <a:cs typeface="Arial" pitchFamily="34" charset="-120"/>
              </a:rPr>
              <a:t> 지표 선택의 중요성</a:t>
            </a:r>
            <a:endParaRPr lang="en-US" sz="1150" dirty="0"/>
          </a:p>
        </p:txBody>
      </p:sp>
      <p:sp>
        <p:nvSpPr>
          <p:cNvPr id="11" name="Shape 9"/>
          <p:cNvSpPr/>
          <p:nvPr/>
        </p:nvSpPr>
        <p:spPr>
          <a:xfrm>
            <a:off x="402336" y="1901952"/>
            <a:ext cx="2487168" cy="0"/>
          </a:xfrm>
          <a:prstGeom prst="line">
            <a:avLst/>
          </a:prstGeom>
          <a:noFill/>
          <a:ln w="12700">
            <a:solidFill>
              <a:srgbClr val="E5E8EA"/>
            </a:solidFill>
            <a:prstDash val="solid"/>
          </a:ln>
        </p:spPr>
        <p:txBody>
          <a:bodyPr/>
          <a:lstStyle/>
          <a:p>
            <a:endParaRPr lang="ko-KR" altLang="en-US"/>
          </a:p>
        </p:txBody>
      </p:sp>
      <p:sp>
        <p:nvSpPr>
          <p:cNvPr id="12" name="Text 10"/>
          <p:cNvSpPr/>
          <p:nvPr/>
        </p:nvSpPr>
        <p:spPr>
          <a:xfrm>
            <a:off x="402336" y="1975104"/>
            <a:ext cx="2487168" cy="1024128"/>
          </a:xfrm>
          <a:prstGeom prst="rect">
            <a:avLst/>
          </a:prstGeom>
          <a:noFill/>
          <a:ln/>
        </p:spPr>
        <p:txBody>
          <a:bodyPr wrap="square" lIns="0" tIns="0" rIns="0" bIns="0" rtlCol="0" anchor="t"/>
          <a:lstStyle/>
          <a:p>
            <a:pPr marL="0" indent="0">
              <a:buNone/>
            </a:pPr>
            <a:r>
              <a:rPr lang="en-US" sz="1000" dirty="0">
                <a:solidFill>
                  <a:srgbClr val="2C3E50"/>
                </a:solidFill>
                <a:latin typeface="Arial" pitchFamily="34" charset="0"/>
                <a:ea typeface="Arial" pitchFamily="34" charset="-122"/>
                <a:cs typeface="Arial" pitchFamily="34" charset="-120"/>
              </a:rPr>
              <a:t>모델마다 정확도·재현율·F1의 균형이 다릅니다. 의료 데이터에서는 단순 정확도보다 실제 사망 환자를 놓치지 않는 재현율(Recall)이 더 중요하다는 것을 알게 되었습니다.</a:t>
            </a:r>
            <a:endParaRPr lang="en-US" sz="1000" dirty="0"/>
          </a:p>
        </p:txBody>
      </p:sp>
      <p:sp>
        <p:nvSpPr>
          <p:cNvPr id="13" name="Shape 11"/>
          <p:cNvSpPr/>
          <p:nvPr/>
        </p:nvSpPr>
        <p:spPr>
          <a:xfrm>
            <a:off x="3182112" y="1389888"/>
            <a:ext cx="2743200" cy="1691640"/>
          </a:xfrm>
          <a:prstGeom prst="roundRect">
            <a:avLst>
              <a:gd name="adj" fmla="val 5405"/>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14" name="Shape 12"/>
          <p:cNvSpPr/>
          <p:nvPr/>
        </p:nvSpPr>
        <p:spPr>
          <a:xfrm>
            <a:off x="3310128" y="1481328"/>
            <a:ext cx="365760" cy="365760"/>
          </a:xfrm>
          <a:prstGeom prst="ellipse">
            <a:avLst/>
          </a:prstGeom>
          <a:solidFill>
            <a:srgbClr val="0D2B55"/>
          </a:solidFill>
          <a:ln w="12700">
            <a:solidFill>
              <a:srgbClr val="0D2B55"/>
            </a:solidFill>
            <a:prstDash val="solid"/>
          </a:ln>
        </p:spPr>
        <p:txBody>
          <a:bodyPr/>
          <a:lstStyle/>
          <a:p>
            <a:endParaRPr lang="ko-KR" altLang="en-US"/>
          </a:p>
        </p:txBody>
      </p:sp>
      <p:sp>
        <p:nvSpPr>
          <p:cNvPr id="15" name="Text 13"/>
          <p:cNvSpPr/>
          <p:nvPr/>
        </p:nvSpPr>
        <p:spPr>
          <a:xfrm>
            <a:off x="3310128" y="1481328"/>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16" name="Text 14"/>
          <p:cNvSpPr/>
          <p:nvPr/>
        </p:nvSpPr>
        <p:spPr>
          <a:xfrm>
            <a:off x="3749040" y="1463040"/>
            <a:ext cx="2057400" cy="384048"/>
          </a:xfrm>
          <a:prstGeom prst="rect">
            <a:avLst/>
          </a:prstGeom>
          <a:noFill/>
          <a:ln/>
        </p:spPr>
        <p:txBody>
          <a:bodyPr wrap="square" lIns="0" tIns="0" rIns="0" bIns="0" rtlCol="0" anchor="ctr"/>
          <a:lstStyle/>
          <a:p>
            <a:pPr marL="0" indent="0">
              <a:buNone/>
            </a:pPr>
            <a:r>
              <a:rPr lang="en-US" sz="1150" b="1" dirty="0" err="1">
                <a:solidFill>
                  <a:srgbClr val="0D2B55"/>
                </a:solidFill>
                <a:latin typeface="Arial" pitchFamily="34" charset="0"/>
                <a:ea typeface="Arial" pitchFamily="34" charset="-122"/>
                <a:cs typeface="Arial" pitchFamily="34" charset="-120"/>
              </a:rPr>
              <a:t>도메인</a:t>
            </a:r>
            <a:r>
              <a:rPr lang="en-US" sz="1150" b="1" dirty="0">
                <a:solidFill>
                  <a:srgbClr val="0D2B55"/>
                </a:solidFill>
                <a:latin typeface="Arial" pitchFamily="34" charset="0"/>
                <a:ea typeface="Arial" pitchFamily="34" charset="-122"/>
                <a:cs typeface="Arial" pitchFamily="34" charset="-120"/>
              </a:rPr>
              <a:t> 지식과 데이터의 연결</a:t>
            </a:r>
            <a:endParaRPr lang="en-US" sz="1150" dirty="0"/>
          </a:p>
        </p:txBody>
      </p:sp>
      <p:sp>
        <p:nvSpPr>
          <p:cNvPr id="17" name="Shape 15"/>
          <p:cNvSpPr/>
          <p:nvPr/>
        </p:nvSpPr>
        <p:spPr>
          <a:xfrm>
            <a:off x="3310128" y="1901952"/>
            <a:ext cx="2487168" cy="0"/>
          </a:xfrm>
          <a:prstGeom prst="line">
            <a:avLst/>
          </a:prstGeom>
          <a:noFill/>
          <a:ln w="12700">
            <a:solidFill>
              <a:srgbClr val="E5E8EA"/>
            </a:solidFill>
            <a:prstDash val="solid"/>
          </a:ln>
        </p:spPr>
        <p:txBody>
          <a:bodyPr/>
          <a:lstStyle/>
          <a:p>
            <a:endParaRPr lang="ko-KR" altLang="en-US"/>
          </a:p>
        </p:txBody>
      </p:sp>
      <p:sp>
        <p:nvSpPr>
          <p:cNvPr id="18" name="Text 16"/>
          <p:cNvSpPr/>
          <p:nvPr/>
        </p:nvSpPr>
        <p:spPr>
          <a:xfrm>
            <a:off x="3310128" y="1975104"/>
            <a:ext cx="2487168" cy="1024128"/>
          </a:xfrm>
          <a:prstGeom prst="rect">
            <a:avLst/>
          </a:prstGeom>
          <a:noFill/>
          <a:ln/>
        </p:spPr>
        <p:txBody>
          <a:bodyPr wrap="square" lIns="0" tIns="0" rIns="0" bIns="0" rtlCol="0" anchor="t"/>
          <a:lstStyle/>
          <a:p>
            <a:pPr marL="0" indent="0">
              <a:buNone/>
            </a:pPr>
            <a:r>
              <a:rPr lang="en-US" sz="1000" dirty="0">
                <a:solidFill>
                  <a:srgbClr val="2C3E50"/>
                </a:solidFill>
                <a:latin typeface="Arial" pitchFamily="34" charset="0"/>
                <a:ea typeface="Arial" pitchFamily="34" charset="-122"/>
                <a:cs typeface="Arial" pitchFamily="34" charset="-120"/>
              </a:rPr>
              <a:t>크레아티닌은 신장 기능 지표, 심박출률은 심장 펌프 효율을 나타냅니다. 의학 지식이 뒷받침될 때 비로소 수치가 의미 있는 인사이트로 해석된다는 것을 배웠습니다.</a:t>
            </a:r>
            <a:endParaRPr lang="en-US" sz="1000" dirty="0"/>
          </a:p>
        </p:txBody>
      </p:sp>
      <p:sp>
        <p:nvSpPr>
          <p:cNvPr id="19" name="Shape 17"/>
          <p:cNvSpPr/>
          <p:nvPr/>
        </p:nvSpPr>
        <p:spPr>
          <a:xfrm>
            <a:off x="6089904" y="1389888"/>
            <a:ext cx="2743200" cy="1691640"/>
          </a:xfrm>
          <a:prstGeom prst="roundRect">
            <a:avLst>
              <a:gd name="adj" fmla="val 5405"/>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20" name="Shape 18"/>
          <p:cNvSpPr/>
          <p:nvPr/>
        </p:nvSpPr>
        <p:spPr>
          <a:xfrm>
            <a:off x="6217920" y="1481328"/>
            <a:ext cx="365760" cy="365760"/>
          </a:xfrm>
          <a:prstGeom prst="ellipse">
            <a:avLst/>
          </a:prstGeom>
          <a:solidFill>
            <a:srgbClr val="0D2B55"/>
          </a:solidFill>
          <a:ln w="12700">
            <a:solidFill>
              <a:srgbClr val="0D2B55"/>
            </a:solidFill>
            <a:prstDash val="solid"/>
          </a:ln>
        </p:spPr>
        <p:txBody>
          <a:bodyPr/>
          <a:lstStyle/>
          <a:p>
            <a:endParaRPr lang="ko-KR" altLang="en-US"/>
          </a:p>
        </p:txBody>
      </p:sp>
      <p:sp>
        <p:nvSpPr>
          <p:cNvPr id="21" name="Text 19"/>
          <p:cNvSpPr/>
          <p:nvPr/>
        </p:nvSpPr>
        <p:spPr>
          <a:xfrm>
            <a:off x="6217920" y="1481328"/>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22" name="Text 20"/>
          <p:cNvSpPr/>
          <p:nvPr/>
        </p:nvSpPr>
        <p:spPr>
          <a:xfrm>
            <a:off x="6656832" y="1463040"/>
            <a:ext cx="2057400" cy="384048"/>
          </a:xfrm>
          <a:prstGeom prst="rect">
            <a:avLst/>
          </a:prstGeom>
          <a:noFill/>
          <a:ln/>
        </p:spPr>
        <p:txBody>
          <a:bodyPr wrap="square" lIns="0" tIns="0" rIns="0" bIns="0" rtlCol="0" anchor="ctr"/>
          <a:lstStyle/>
          <a:p>
            <a:pPr marL="0" indent="0">
              <a:buNone/>
            </a:pPr>
            <a:r>
              <a:rPr lang="en-US" sz="1150" b="1" dirty="0" err="1">
                <a:solidFill>
                  <a:srgbClr val="0D2B55"/>
                </a:solidFill>
                <a:latin typeface="Arial" pitchFamily="34" charset="0"/>
                <a:ea typeface="Arial" pitchFamily="34" charset="-122"/>
                <a:cs typeface="Arial" pitchFamily="34" charset="-120"/>
              </a:rPr>
              <a:t>시각화</a:t>
            </a:r>
            <a:r>
              <a:rPr lang="en-US" sz="1150" b="1" dirty="0">
                <a:solidFill>
                  <a:srgbClr val="0D2B55"/>
                </a:solidFill>
                <a:latin typeface="Arial" pitchFamily="34" charset="0"/>
                <a:ea typeface="Arial" pitchFamily="34" charset="-122"/>
                <a:cs typeface="Arial" pitchFamily="34" charset="-120"/>
              </a:rPr>
              <a:t> 왜곡 방지의 필요성</a:t>
            </a:r>
            <a:endParaRPr lang="en-US" sz="1150" dirty="0"/>
          </a:p>
        </p:txBody>
      </p:sp>
      <p:sp>
        <p:nvSpPr>
          <p:cNvPr id="23" name="Shape 21"/>
          <p:cNvSpPr/>
          <p:nvPr/>
        </p:nvSpPr>
        <p:spPr>
          <a:xfrm>
            <a:off x="6217920" y="1901952"/>
            <a:ext cx="2487168" cy="0"/>
          </a:xfrm>
          <a:prstGeom prst="line">
            <a:avLst/>
          </a:prstGeom>
          <a:noFill/>
          <a:ln w="12700">
            <a:solidFill>
              <a:srgbClr val="E5E8EA"/>
            </a:solidFill>
            <a:prstDash val="solid"/>
          </a:ln>
        </p:spPr>
        <p:txBody>
          <a:bodyPr/>
          <a:lstStyle/>
          <a:p>
            <a:endParaRPr lang="ko-KR" altLang="en-US"/>
          </a:p>
        </p:txBody>
      </p:sp>
      <p:sp>
        <p:nvSpPr>
          <p:cNvPr id="24" name="Text 22"/>
          <p:cNvSpPr/>
          <p:nvPr/>
        </p:nvSpPr>
        <p:spPr>
          <a:xfrm>
            <a:off x="6217920" y="1975104"/>
            <a:ext cx="2487168" cy="1024128"/>
          </a:xfrm>
          <a:prstGeom prst="rect">
            <a:avLst/>
          </a:prstGeom>
          <a:noFill/>
          <a:ln/>
        </p:spPr>
        <p:txBody>
          <a:bodyPr wrap="square" lIns="0" tIns="0" rIns="0" bIns="0" rtlCol="0" anchor="t"/>
          <a:lstStyle/>
          <a:p>
            <a:pPr marL="0" indent="0">
              <a:buNone/>
            </a:pPr>
            <a:r>
              <a:rPr lang="en-US" sz="1000" dirty="0">
                <a:solidFill>
                  <a:srgbClr val="2C3E50"/>
                </a:solidFill>
                <a:latin typeface="Arial" pitchFamily="34" charset="0"/>
                <a:ea typeface="Arial" pitchFamily="34" charset="-122"/>
                <a:cs typeface="Arial" pitchFamily="34" charset="-120"/>
              </a:rPr>
              <a:t>파이썬 자동 정렬로 범주형 데이터의 색상·순서가 뒤바뀌는 오류를 경험했습니다. 데이터 의미와 시각화 요소가 1:1로 정확히 일치하는지 끝까지 검증해야 함을 알게 되었습니다.</a:t>
            </a:r>
            <a:endParaRPr lang="en-US" sz="1000" dirty="0"/>
          </a:p>
        </p:txBody>
      </p:sp>
      <p:sp>
        <p:nvSpPr>
          <p:cNvPr id="25" name="Shape 23"/>
          <p:cNvSpPr/>
          <p:nvPr/>
        </p:nvSpPr>
        <p:spPr>
          <a:xfrm>
            <a:off x="274320" y="3246120"/>
            <a:ext cx="1463040" cy="347472"/>
          </a:xfrm>
          <a:prstGeom prst="roundRect">
            <a:avLst>
              <a:gd name="adj" fmla="val 21053"/>
            </a:avLst>
          </a:prstGeom>
          <a:solidFill>
            <a:srgbClr val="148F77"/>
          </a:solidFill>
          <a:ln w="12700">
            <a:solidFill>
              <a:srgbClr val="148F77"/>
            </a:solidFill>
            <a:prstDash val="solid"/>
          </a:ln>
        </p:spPr>
        <p:txBody>
          <a:bodyPr/>
          <a:lstStyle/>
          <a:p>
            <a:endParaRPr lang="ko-KR" altLang="en-US"/>
          </a:p>
        </p:txBody>
      </p:sp>
      <p:sp>
        <p:nvSpPr>
          <p:cNvPr id="26" name="Text 24"/>
          <p:cNvSpPr/>
          <p:nvPr/>
        </p:nvSpPr>
        <p:spPr>
          <a:xfrm>
            <a:off x="274320" y="3246120"/>
            <a:ext cx="14630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  </a:t>
            </a:r>
            <a:r>
              <a:rPr lang="en-US" sz="1100" b="1" dirty="0" err="1">
                <a:solidFill>
                  <a:srgbClr val="FFFFFF"/>
                </a:solidFill>
                <a:latin typeface="Arial" pitchFamily="34" charset="0"/>
                <a:ea typeface="Arial" pitchFamily="34" charset="-122"/>
                <a:cs typeface="Arial" pitchFamily="34" charset="-120"/>
              </a:rPr>
              <a:t>느낀</a:t>
            </a:r>
            <a:r>
              <a:rPr lang="en-US" sz="1100" b="1" dirty="0">
                <a:solidFill>
                  <a:srgbClr val="FFFFFF"/>
                </a:solidFill>
                <a:latin typeface="Arial" pitchFamily="34" charset="0"/>
                <a:ea typeface="Arial" pitchFamily="34" charset="-122"/>
                <a:cs typeface="Arial" pitchFamily="34" charset="-120"/>
              </a:rPr>
              <a:t> 점</a:t>
            </a:r>
            <a:endParaRPr lang="en-US" sz="1100" dirty="0"/>
          </a:p>
        </p:txBody>
      </p:sp>
      <p:sp>
        <p:nvSpPr>
          <p:cNvPr id="27" name="Shape 25"/>
          <p:cNvSpPr/>
          <p:nvPr/>
        </p:nvSpPr>
        <p:spPr>
          <a:xfrm>
            <a:off x="274320" y="3703320"/>
            <a:ext cx="8595360" cy="1188720"/>
          </a:xfrm>
          <a:prstGeom prst="roundRect">
            <a:avLst>
              <a:gd name="adj" fmla="val 7692"/>
            </a:avLst>
          </a:prstGeom>
          <a:solidFill>
            <a:srgbClr val="FFFFFF"/>
          </a:solidFill>
          <a:ln w="12700">
            <a:solidFill>
              <a:srgbClr val="D5D8DC"/>
            </a:solidFill>
            <a:prstDash val="solid"/>
          </a:ln>
          <a:effectLst>
            <a:outerShdw blurRad="76200" dist="25400" dir="2700000" algn="bl" rotWithShape="0">
              <a:srgbClr val="000000">
                <a:alpha val="9000"/>
              </a:srgbClr>
            </a:outerShdw>
          </a:effectLst>
        </p:spPr>
        <p:txBody>
          <a:bodyPr/>
          <a:lstStyle/>
          <a:p>
            <a:endParaRPr lang="ko-KR" altLang="en-US"/>
          </a:p>
        </p:txBody>
      </p:sp>
      <p:sp>
        <p:nvSpPr>
          <p:cNvPr id="30" name="Text 28"/>
          <p:cNvSpPr/>
          <p:nvPr/>
        </p:nvSpPr>
        <p:spPr>
          <a:xfrm>
            <a:off x="438912" y="3909060"/>
            <a:ext cx="8229600" cy="777240"/>
          </a:xfrm>
          <a:prstGeom prst="rect">
            <a:avLst/>
          </a:prstGeom>
          <a:noFill/>
          <a:ln/>
        </p:spPr>
        <p:txBody>
          <a:bodyPr wrap="square" lIns="0" tIns="0" rIns="0" bIns="0" rtlCol="0" anchor="t"/>
          <a:lstStyle/>
          <a:p>
            <a:pPr marL="0" indent="0">
              <a:buNone/>
            </a:pPr>
            <a:r>
              <a:rPr lang="en-US" sz="1100" dirty="0">
                <a:solidFill>
                  <a:srgbClr val="2C3E50"/>
                </a:solidFill>
                <a:latin typeface="Arial" pitchFamily="34" charset="0"/>
                <a:ea typeface="Arial" pitchFamily="34" charset="-122"/>
                <a:cs typeface="Arial" pitchFamily="34" charset="-120"/>
              </a:rPr>
              <a:t>데이터 분석은 단순한 결과 도출이 아니라 끝없는 검증과 방어의 과정임을 깨달았습니다. 숫자 하나하나 뒤에 실제 환자의 생명이라는 가치가 있다는 것을 느끼며, 결과에 대한 책임감과 함께 정확성에 더욱 집중하게 되었습니다. 이번 프로젝트를 통해 AI가 단순 계산기를 넘어 의료진에게 치료 우선순위를 제시하는 의사결정 지원 도구가 될 수 있다는 가능성을 보았고, 분석가로서의 사회적 책임을 처음으로 진지하게 생각해보는 계기가 되었습니다.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718</Words>
  <Application>Microsoft Office PowerPoint</Application>
  <PresentationFormat>화면 슬라이드 쇼(16:9)</PresentationFormat>
  <Paragraphs>138</Paragraphs>
  <Slides>8</Slides>
  <Notes>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Arial</vt:lpstr>
      <vt:lpstr>Cambria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임상 데이터를 활용한 심부전 환자 생존 여부 예측</dc:title>
  <dc:subject>PptxGenJS Presentation</dc:subject>
  <dc:creator>설현우</dc:creator>
  <cp:lastModifiedBy>hyunwoo seol</cp:lastModifiedBy>
  <cp:revision>1</cp:revision>
  <dcterms:created xsi:type="dcterms:W3CDTF">2026-06-10T05:10:26Z</dcterms:created>
  <dcterms:modified xsi:type="dcterms:W3CDTF">2026-06-10T06:16:17Z</dcterms:modified>
</cp:coreProperties>
</file>